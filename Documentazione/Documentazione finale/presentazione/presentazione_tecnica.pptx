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c6e3098e6de40ec" /><Relationship Type="http://schemas.openxmlformats.org/officeDocument/2006/relationships/extended-properties" Target="/docProps/app.xml" Id="R26780247f48040c5" /><Relationship Type="http://schemas.openxmlformats.org/officeDocument/2006/relationships/officeDocument" Target="/ppt/presentation.xml" Id="Rc4af211bb6344bc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21757bb06b24099"/>
  </p:sldMasterIdLst>
  <p:notesMasterIdLst>
    <p:notesMasterId xmlns:r="http://schemas.openxmlformats.org/officeDocument/2006/relationships" r:id="R5c7a76695d4a452c"/>
  </p:notesMasterIdLst>
  <p:sldIdLst>
    <p:sldId xmlns:r="http://schemas.openxmlformats.org/officeDocument/2006/relationships" id="256" r:id="R8d4fdac3de4a4167"/>
    <p:sldId xmlns:r="http://schemas.openxmlformats.org/officeDocument/2006/relationships" id="257" r:id="Rf597c73c3a6d407d"/>
    <p:sldId xmlns:r="http://schemas.openxmlformats.org/officeDocument/2006/relationships" id="258" r:id="Rb1f8acdc70f3490d"/>
    <p:sldId xmlns:r="http://schemas.openxmlformats.org/officeDocument/2006/relationships" id="259" r:id="Rab3a857b32944eac"/>
    <p:sldId xmlns:r="http://schemas.openxmlformats.org/officeDocument/2006/relationships" id="260" r:id="R9335f0924df34886"/>
    <p:sldId xmlns:r="http://schemas.openxmlformats.org/officeDocument/2006/relationships" id="261" r:id="Ra122983c7f824e7a"/>
    <p:sldId xmlns:r="http://schemas.openxmlformats.org/officeDocument/2006/relationships" id="262" r:id="Red4e1bebb20f4f8d"/>
    <p:sldId xmlns:r="http://schemas.openxmlformats.org/officeDocument/2006/relationships" id="263" r:id="R17a64435ad81448b"/>
    <p:sldId xmlns:r="http://schemas.openxmlformats.org/officeDocument/2006/relationships" id="264" r:id="R62f69ecd2f6646b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4a92a35eb134279" /><Relationship Type="http://schemas.openxmlformats.org/officeDocument/2006/relationships/slideMaster" Target="/ppt/slideMasters/slideMaster1.xml" Id="Ra21757bb06b24099" /><Relationship Type="http://schemas.openxmlformats.org/officeDocument/2006/relationships/notesMaster" Target="/ppt/notesMasters/notesMaster1.xml" Id="R5c7a76695d4a452c" /><Relationship Type="http://schemas.openxmlformats.org/officeDocument/2006/relationships/presProps" Target="/ppt/presProps.xml" Id="Re01da4f32f644d8c" /><Relationship Type="http://schemas.openxmlformats.org/officeDocument/2006/relationships/tableStyles" Target="/ppt/tableStyles.xml" Id="R0d1a1bb2aceb43ba" /><Relationship Type="http://schemas.openxmlformats.org/officeDocument/2006/relationships/slide" Target="/ppt/slides/slide1.xml" Id="R8d4fdac3de4a4167" /><Relationship Type="http://schemas.openxmlformats.org/officeDocument/2006/relationships/slide" Target="/ppt/slides/slide2.xml" Id="Rf597c73c3a6d407d" /><Relationship Type="http://schemas.openxmlformats.org/officeDocument/2006/relationships/slide" Target="/ppt/slides/slide3.xml" Id="Rb1f8acdc70f3490d" /><Relationship Type="http://schemas.openxmlformats.org/officeDocument/2006/relationships/slide" Target="/ppt/slides/slide4.xml" Id="Rab3a857b32944eac" /><Relationship Type="http://schemas.openxmlformats.org/officeDocument/2006/relationships/slide" Target="/ppt/slides/slide5.xml" Id="R9335f0924df34886" /><Relationship Type="http://schemas.openxmlformats.org/officeDocument/2006/relationships/slide" Target="/ppt/slides/slide6.xml" Id="Ra122983c7f824e7a" /><Relationship Type="http://schemas.openxmlformats.org/officeDocument/2006/relationships/slide" Target="/ppt/slides/slide7.xml" Id="Red4e1bebb20f4f8d" /><Relationship Type="http://schemas.openxmlformats.org/officeDocument/2006/relationships/slide" Target="/ppt/slides/slide8.xml" Id="R17a64435ad81448b" /><Relationship Type="http://schemas.openxmlformats.org/officeDocument/2006/relationships/slide" Target="/ppt/slides/slide9.xml" Id="R62f69ecd2f6646b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d18a46aa49e433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f615a02ff054a29" /><Relationship Type="http://schemas.openxmlformats.org/officeDocument/2006/relationships/notesMaster" Target="/ppt/notesMasters/notesMaster1.xml" Id="Rfa7596c3d8a548a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5c0f840aec948c4" /><Relationship Type="http://schemas.openxmlformats.org/officeDocument/2006/relationships/notesMaster" Target="/ppt/notesMasters/notesMaster1.xml" Id="R9de945bf618f485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5cb3f2d51ce41ed" /><Relationship Type="http://schemas.openxmlformats.org/officeDocument/2006/relationships/notesMaster" Target="/ppt/notesMasters/notesMaster1.xml" Id="Ra5baaad8fcbe40f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1ffa02473a34e5a" /><Relationship Type="http://schemas.openxmlformats.org/officeDocument/2006/relationships/notesMaster" Target="/ppt/notesMasters/notesMaster1.xml" Id="R373f622916ea45a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24832c5333c4f1f" /><Relationship Type="http://schemas.openxmlformats.org/officeDocument/2006/relationships/notesMaster" Target="/ppt/notesMasters/notesMaster1.xml" Id="Rddae640ee90e4ec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8c0a83c310b4069" /><Relationship Type="http://schemas.openxmlformats.org/officeDocument/2006/relationships/notesMaster" Target="/ppt/notesMasters/notesMaster1.xml" Id="R727fb13c6f24417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3da7734f66a46eb" /><Relationship Type="http://schemas.openxmlformats.org/officeDocument/2006/relationships/notesMaster" Target="/ppt/notesMasters/notesMaster1.xml" Id="Rbd77556c58ee479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40785c3d3e84324" /><Relationship Type="http://schemas.openxmlformats.org/officeDocument/2006/relationships/notesMaster" Target="/ppt/notesMasters/notesMaster1.xml" Id="R45ca7e5596b6403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aee15bd21174241" /><Relationship Type="http://schemas.openxmlformats.org/officeDocument/2006/relationships/notesMaster" Target="/ppt/notesMasters/notesMaster1.xml" Id="R498b8af59e6c419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Budget: 20 secondi.</a:t>
            </a:r>
          </a:p>
          <a:p xmlns:a="http://schemas.openxmlformats.org/drawingml/2006/main">
            <a:r>
              <a:t>Progetto SWE 2025/2026, modalità tradizionale. Presentare perimetro assegnato e scelte tecniche. Specificare che il materiale è una revisione aperta: risultati finali ancora da consolidare. Fonte: traccia §§3.2, 8, 10 e specifica requisiti. Repository: https://github.com/Valeriop03/BugBoard26.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Budget: 75 secondi.</a:t>
            </a:r>
          </a:p>
          <a:p xmlns:a="http://schemas.openxmlformats.org/drawingml/2006/main">
            <a:r>
              <a:t>Spiegare perché SPA e API sono eseguibili separatamente. Il browser chiama REST con JWT, il backend centralizza dati e regole. EF Core/Npgsql accede a PostgreSQL; i file immagine risiedono nello storage backend. Compose esegue API e database, Angular resta sul PC. Motivare indipendenza dalla UI e limite del setup HTTP locale. Fonti: backend/BugBoard26.Api/Program.cs, docker/docker-compose.yml, README.md, component_diagram.puml. Il disegno è una vista sintetica del modello esistente.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Budget: 75 secondi.</a:t>
            </a:r>
          </a:p>
          <a:p xmlns:a="http://schemas.openxmlformats.org/drawingml/2006/main">
            <a:r>
              <a:t>Descrivere User, Issue e Notification. Issue ha segnalatore obbligatorio, assegnatario e originale duplicato opzionali. Unique email e FK configurate in EF. Distinguere validazione degli assegnatari dal vincolo SQL. ImagePath è un riferimento al file; non un BLOB. Le regole DeleteBehavior sono nel diagramma dati completo. La vista sintetica omette alcune associazioni: AssignedToId e UserId sono FK verso User, DuplicateOfIssueId è una FK verso Issue. Consultare il modello completo per tutte le molteplicità e cancellazioni. Fonti: Models/*.cs, Data/ApplicationDbContext.cs, Migrations/20260629102322_InitialCreate.cs, database_schema.puml.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Budget: 60 secondi.</a:t>
            </a:r>
          </a:p>
          <a:p xmlns:a="http://schemas.openxmlformats.org/drawingml/2006/main">
            <a:r>
              <a:t>Motivare le astrazioni presenti, senza attribuire pattern assenti. PasswordHasher e JwtTokenService implementano interfacce sostituibili tramite DI. IssueDomainService è una classe concreta con regole pure. DTO separano HTTP ed entità, DbContext è ricevuto direttamente dai controller. Le entità non sono un dominio ricco: orchestrazione e salvataggi sono nei controller. Limite: dipendenza da EF da verificare con test HTTP/PostgreSQL. Fonti: Program.cs, Services/IPasswordHasher.cs, IJwtTokenService.cs, IssueDomainService.cs, Controllers, class_diagram.puml.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Budget: 75 secondi.</a:t>
            </a:r>
          </a:p>
          <a:p xmlns:a="http://schemas.openxmlformats.org/drawingml/2006/main">
            <a:r>
              <a:t>La UI nasconde comandi ma il server resta il punto di controllo. Mostrare la distinzione tra creazione, cambio stato, archiviazione/duplicazione e gestione utenti. CanChangeIssueStatus verifica account attivo e assegnazione. Non attribuire un lookup account attivo a ogni endpoint: Archive e MarkAsDuplicate usano il ruolo JWT. NotificationsController controlla claim e account nel metodo, senza attributo Authorize. RF-17, decisione del gruppo del 16 ottobre 2026, non chiarimento docente: READONLY consulta le proprie notifiche ma non le segna lette. Backend e test affidati ad amico 1; frontend da allineare e verificare. Oracolo TP-14: GET proprie 200, PATCH read su notifica propria esistente 403 senza scritture, nessun comando UI. Non presentare questi esiti come già acquisiti. Fonti: IssuesController, UsersController, NotificationsController, IssueDomainService, auth.guard.ts.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Budget: 60 secondi.</a:t>
            </a:r>
          </a:p>
          <a:p xmlns:a="http://schemas.openxmlformats.org/drawingml/2006/main">
            <a:r>
              <a:t>Seguire la sequenza cambio stato esistente. Ingresso in Resolved aggiorna UpdatedAt e ResolvedAt e aggiunge Notification per CreatedById, non per AssignedToId. Una sola SaveChangesAsync persiste le modifiche. Stesso stato valido su issue non duplicata non scrive date o notifiche. Uscire da Resolved azzera ResolvedAt, senza cancellare notifiche. Duplicate è rifiutato nel percorso status con 400, una issue già duplicata dà 409. Non introdurre una matrice generale di transizioni assente nel codice. Fonti: IssuesController.UpdateStatus, sequence_cambio_stato.puml, IssueStatusIntegrationTests.cs.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Budget: 80 secondi.</a:t>
            </a:r>
          </a:p>
          <a:p xmlns:a="http://schemas.openxmlformats.org/drawingml/2006/main">
            <a:r>
              <a:t>Tre metodi non banali a due parametri già testati in xUnit. SearchIssues: titolo, descrizione, nessuna corrispondenza; assert sul conteggio, non sugli ID. CanChangeIssueStatus: ruoli, attività, assegnazione. SuggestAssignee: carichi e assenza candidati. Esporre anche i limiti: null/trim e case della ricerca, parità e archiviati non hanno casi unitari dedicati. Test HTTP reali con PostgreSQL separato verificano autorizzazione, query e persistenza. TP-UC02 copre risoluzione, date, notifica, rifiuti e ripetizione. In questa attività i test non sono rilanciati e non si dichiara coverage completa. Fonti: IssueDomainServiceTests.cs, Integration/*, documentazione_finale.tex, strategie_dominio.tex, test_plan.tex.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Budget: 60 secondi.</a:t>
            </a:r>
          </a:p>
          <a:p xmlns:a="http://schemas.openxmlformats.org/drawingml/2006/main">
            <a:r>
              <a:t>Il collaudo frontend reale di Valerio del 16 ottobre è riportato nel documento unico ed è confermato dal gruppo. Comprende build e 27 test frontend e scenari UI/API con backend Docker e PostgreSQL reali; non è una nuova esecuzione dell’autore documentale e non equivale alla suite backend o alle prove con utenti. Report e screenshot permanenti da acquisire. Amico 1 depositerà suite/coverage backend, persistenza dopo ricreazione e report SonarQube in verifica-backend/ alla radice del repository. Report ancora da acquisire e leggere, non verificati dalla presenza del codice. La nota del 9 ottobre resta storica e parziale. Il §2.4 richiede review sistematica, utenti reali/potenziali e survey: attività ancora da svolgere. Conformità CASE ancora aperta. RF-17 deciso dal gruppo: READONLY consulta le proprie notifiche e non le segna lette. Backend e test ad amico 1, frontend da allineare e verificare; esiti ancora aperti. Fonti: documentazione_finale.tex, sezione Collaudo frontend reale, evidenze.md, qualita_backend.md, usabilita.md, traccia §§2.4 e 3.2.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Budget: 35 secondi.</a:t>
            </a:r>
          </a:p>
          <a:p xmlns:a="http://schemas.openxmlformats.org/drawingml/2006/main">
            <a:r>
              <a:t>Passare al collega frontend dopo la presentazione tecnica. Proposta di demo successiva di 2-3 minuti, da concordare e provare realmente. Preparare account distinti S e A, READONLY e una issue già assegnata. Legare ogni passaggio a un controllo tecnico. Non dichiarare collaudata la demo prima della prova. Tutti i membri devono conoscere ogni parte del sistema. Fonte: consegna.md e traccia §10. Budget complessivo delle slide: 540 secondi, previsione non prova cronometrata.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4b05cc01fd48b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7b6b0d6a064f4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deca3e58784a0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4ae5c709ab457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ce5ed3526944b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6577c230484a6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E54A94B-5BAF-4F77-91EF-074C1207ABA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5631FC8-E416-47FE-B094-D94B8D85058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0C4B16D-20E6-4EE9-93A5-800D84BE710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D11EF74-5665-4776-8E5B-C81FA26D164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579D9E8-CD5A-4C32-8D1A-50BED8F7066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6BC6649-61C5-4624-9C42-969DC2BD3F4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18658A4-8A2A-4BB5-AD3F-1186E5194D2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6F51ABD-9C27-4489-A7CF-786C6D242C2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4513E9E-C7C1-42A7-A1A6-D81F663D533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A79E8A7-D671-4A1A-8BF4-00C811314A6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d63322e8ab34dc2" /><Relationship Type="http://schemas.openxmlformats.org/officeDocument/2006/relationships/slideLayout" Target="/ppt/slideLayouts/slideLayout1.xml" Id="R70bddb81db354525" /><Relationship Type="http://schemas.openxmlformats.org/officeDocument/2006/relationships/slideLayout" Target="/ppt/slideLayouts/slideLayout2.xml" Id="R20d00d07585c4f96" /><Relationship Type="http://schemas.openxmlformats.org/officeDocument/2006/relationships/slideLayout" Target="/ppt/slideLayouts/slideLayout3.xml" Id="R7a9ca4fa85924a36" /><Relationship Type="http://schemas.openxmlformats.org/officeDocument/2006/relationships/slideLayout" Target="/ppt/slideLayouts/slideLayout4.xml" Id="R7fbbb7d370a24125" /><Relationship Type="http://schemas.openxmlformats.org/officeDocument/2006/relationships/slideLayout" Target="/ppt/slideLayouts/slideLayout5.xml" Id="Rf6d6f50267674028" /><Relationship Type="http://schemas.openxmlformats.org/officeDocument/2006/relationships/slideLayout" Target="/ppt/slideLayouts/slideLayout6.xml" Id="Re269a04af98d4f3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0bddb81db354525"/>
    <p:sldLayoutId xmlns:r="http://schemas.openxmlformats.org/officeDocument/2006/relationships" id="2147483650" r:id="R20d00d07585c4f96"/>
    <p:sldLayoutId xmlns:r="http://schemas.openxmlformats.org/officeDocument/2006/relationships" id="2147483651" r:id="R7a9ca4fa85924a36"/>
    <p:sldLayoutId xmlns:r="http://schemas.openxmlformats.org/officeDocument/2006/relationships" id="2147483652" r:id="R7fbbb7d370a24125"/>
    <p:sldLayoutId xmlns:r="http://schemas.openxmlformats.org/officeDocument/2006/relationships" id="2147483653" r:id="Rf6d6f50267674028"/>
    <p:sldLayoutId xmlns:r="http://schemas.openxmlformats.org/officeDocument/2006/relationships" id="2147483654" r:id="Re269a04af98d4f3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4071174194e48aa" /><Relationship Type="http://schemas.openxmlformats.org/officeDocument/2006/relationships/notesSlide" Target="/ppt/notesSlides/notesSlide1.xml" Id="Rb35c65c3b5e744b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b563c4143184637" /><Relationship Type="http://schemas.openxmlformats.org/officeDocument/2006/relationships/image" Target="/ppt/media/image.png" Id="Rb566ffa9066e4ba6" /><Relationship Type="http://schemas.openxmlformats.org/officeDocument/2006/relationships/notesSlide" Target="/ppt/notesSlides/notesSlide2.xml" Id="Rd27977136bcc410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af05fd5b2043c3" /><Relationship Type="http://schemas.openxmlformats.org/officeDocument/2006/relationships/image" Target="/ppt/media/image2.png" Id="R240e7b41d8d24248" /><Relationship Type="http://schemas.openxmlformats.org/officeDocument/2006/relationships/notesSlide" Target="/ppt/notesSlides/notesSlide3.xml" Id="Rb77c0b79332c4fb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2d99bccc0b94374" /><Relationship Type="http://schemas.openxmlformats.org/officeDocument/2006/relationships/notesSlide" Target="/ppt/notesSlides/notesSlide4.xml" Id="Ra7b1fbe037a14e7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cbb0264763e48dc" /><Relationship Type="http://schemas.openxmlformats.org/officeDocument/2006/relationships/notesSlide" Target="/ppt/notesSlides/notesSlide5.xml" Id="R05f46424b9a84c0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c36e6e09f8425b" /><Relationship Type="http://schemas.openxmlformats.org/officeDocument/2006/relationships/notesSlide" Target="/ppt/notesSlides/notesSlide6.xml" Id="R93d5a098a8d6476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c6ff2184bc4e16" /><Relationship Type="http://schemas.openxmlformats.org/officeDocument/2006/relationships/notesSlide" Target="/ppt/notesSlides/notesSlide7.xml" Id="R96ec34aa403a403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f45cbf0042a4c2b" /><Relationship Type="http://schemas.openxmlformats.org/officeDocument/2006/relationships/notesSlide" Target="/ppt/notesSlides/notesSlide8.xml" Id="R4b0a3a51e3b240b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c506a2a865743ac" /><Relationship Type="http://schemas.openxmlformats.org/officeDocument/2006/relationships/notesSlide" Target="/ppt/notesSlides/notesSlide9.xml" Id="R911cb709242f46b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BugBoard26">
            <a:extLst xmlns:a="http://schemas.openxmlformats.org/drawingml/2006/main">
              <a:ext uri="{FF2B5EF4-FFF2-40B4-BE49-F238E27FC236}">
                <a16:creationId xmlns:a16="http://schemas.microsoft.com/office/drawing/2014/main" id="{2DAA8F11-DD93-44CF-97FD-E1536246B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B5C"/>
                </a:solidFill>
                <a:latin typeface="Arial"/>
                <a:ea typeface="Arial"/>
                <a:cs typeface="Arial"/>
              </a:rPr>
              <a:t>BugBoard26</a:t>
            </a:r>
          </a:p>
        </p:txBody>
      </p:sp>
      <p:sp>
        <p:nvSpPr>
          <p:cNvPr id="2" name="1">
            <a:extLst xmlns:a="http://schemas.openxmlformats.org/drawingml/2006/main">
              <a:ext uri="{FF2B5EF4-FFF2-40B4-BE49-F238E27FC236}">
                <a16:creationId xmlns:a16="http://schemas.microsoft.com/office/drawing/2014/main" id="{0CCA54DB-4EFE-43F5-ADE8-0041053AC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B7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" name="Architettura, modello e verifica">
            <a:extLst xmlns:a="http://schemas.openxmlformats.org/drawingml/2006/main">
              <a:ext uri="{FF2B5EF4-FFF2-40B4-BE49-F238E27FC236}">
                <a16:creationId xmlns:a16="http://schemas.microsoft.com/office/drawing/2014/main" id="{9D6301B4-9512-435D-8147-BF1098B49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972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83B5C"/>
                </a:solidFill>
                <a:latin typeface="Arial"/>
                <a:ea typeface="Arial"/>
                <a:cs typeface="Arial"/>
              </a:rPr>
              <a:t>Architettura, modello e verifica</a:t>
            </a:r>
          </a:p>
        </p:txBody>
      </p:sp>
      <p:sp>
        <p:nvSpPr>
          <p:cNvPr id="4" name="Progetto di Ingegneria del Software 2025/2026">
            <a:extLst xmlns:a="http://schemas.openxmlformats.org/drawingml/2006/main">
              <a:ext uri="{FF2B5EF4-FFF2-40B4-BE49-F238E27FC236}">
                <a16:creationId xmlns:a16="http://schemas.microsoft.com/office/drawing/2014/main" id="{1EF3C8FB-EA41-4D01-9E80-51BF3A5F8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Progetto di Ingegneria del Software 2025/2026</a:t>
            </a:r>
          </a:p>
        </p:txBody>
      </p:sp>
      <p:sp>
        <p:nvSpPr>
          <p:cNvPr id="5" name="Revisione documentale del 16 ottobre 2026">
            <a:extLst xmlns:a="http://schemas.openxmlformats.org/drawingml/2006/main">
              <a:ext uri="{FF2B5EF4-FFF2-40B4-BE49-F238E27FC236}">
                <a16:creationId xmlns:a16="http://schemas.microsoft.com/office/drawing/2014/main" id="{7E5B20E9-C127-4451-9D95-C875BD9CC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Revisione documentale del 16 ottobre 2026</a:t>
            </a:r>
          </a:p>
        </p:txBody>
      </p:sp>
      <p:sp>
        <p:nvSpPr>
          <p:cNvPr id="6" name="Risultati finali ancora da consolidare">
            <a:extLst xmlns:a="http://schemas.openxmlformats.org/drawingml/2006/main">
              <a:ext uri="{FF2B5EF4-FFF2-40B4-BE49-F238E27FC236}">
                <a16:creationId xmlns:a16="http://schemas.microsoft.com/office/drawing/2014/main" id="{BB82F029-9A1A-461A-907C-7A3B82A34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63746"/>
                </a:solidFill>
                <a:latin typeface="Arial"/>
                <a:ea typeface="Arial"/>
                <a:cs typeface="Arial"/>
              </a:rPr>
              <a:t>Risultati finali ancora da consolidare</a:t>
            </a:r>
          </a:p>
        </p:txBody>
      </p:sp>
    </p:spTree>
    <p:extLst>
      <p:ext uri="{BB962C8B-B14F-4D97-AF65-F5344CB8AC3E}">
        <p14:creationId xmlns:p14="http://schemas.microsoft.com/office/powerpoint/2010/main" val="32439923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Architettura e separazione dei componenti">
            <a:extLst xmlns:a="http://schemas.openxmlformats.org/drawingml/2006/main">
              <a:ext uri="{FF2B5EF4-FFF2-40B4-BE49-F238E27FC236}">
                <a16:creationId xmlns:a16="http://schemas.microsoft.com/office/drawing/2014/main" id="{17C0977C-DCF6-420F-AF1F-BDCC7C63C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B5C"/>
                </a:solidFill>
                <a:latin typeface="Arial"/>
                <a:ea typeface="Arial"/>
                <a:cs typeface="Arial"/>
              </a:rPr>
              <a:t>Architettura e separazione dei componenti</a:t>
            </a:r>
          </a:p>
        </p:txBody>
      </p:sp>
      <p:sp>
        <p:nvSpPr>
          <p:cNvPr id="2" name="2">
            <a:extLst xmlns:a="http://schemas.openxmlformats.org/drawingml/2006/main">
              <a:ext uri="{FF2B5EF4-FFF2-40B4-BE49-F238E27FC236}">
                <a16:creationId xmlns:a16="http://schemas.microsoft.com/office/drawing/2014/main" id="{8FB59990-79CB-4561-8E4B-40E022064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B7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E1B384-104C-487A-9014-A8DBE0F81D6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66ffa9066e4ba6"/>
          <a:stretch xmlns:a="http://schemas.openxmlformats.org/drawingml/2006/main"/>
        </p:blipFill>
        <p:spPr>
          <a:xfrm xmlns:a="http://schemas.openxmlformats.org/drawingml/2006/main">
            <a:off x="609600" y="2075221"/>
            <a:ext cx="10972800" cy="2212258"/>
          </a:xfrm>
          <a:prstGeom xmlns:a="http://schemas.openxmlformats.org/drawingml/2006/main" prst="rect">
            <a:avLst/>
          </a:prstGeom>
        </p:spPr>
      </p:pic>
      <p:sp>
        <p:nvSpPr>
          <p:cNvPr id="4" name="Backend autonomo. Stato persistente centralizzato.">
            <a:extLst xmlns:a="http://schemas.openxmlformats.org/drawingml/2006/main">
              <a:ext uri="{FF2B5EF4-FFF2-40B4-BE49-F238E27FC236}">
                <a16:creationId xmlns:a16="http://schemas.microsoft.com/office/drawing/2014/main" id="{EA1776FF-097E-4C56-8D48-509EA5B4E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63746"/>
                </a:solidFill>
                <a:latin typeface="Arial"/>
                <a:ea typeface="Arial"/>
                <a:cs typeface="Arial"/>
              </a:rPr>
              <a:t>Backend autonomo. Stato persistente centralizzato.</a:t>
            </a:r>
          </a:p>
        </p:txBody>
      </p:sp>
      <p:sp>
        <p:nvSpPr>
          <p:cNvPr id="5" name="Angular sul PC, API e PostgreSQL separati in Compose">
            <a:extLst xmlns:a="http://schemas.openxmlformats.org/drawingml/2006/main">
              <a:ext uri="{FF2B5EF4-FFF2-40B4-BE49-F238E27FC236}">
                <a16:creationId xmlns:a16="http://schemas.microsoft.com/office/drawing/2014/main" id="{03707374-E575-475B-B0E6-E1BB38FAF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4835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Angular sul PC, API e PostgreSQL separati in Compose</a:t>
            </a:r>
          </a:p>
        </p:txBody>
      </p:sp>
    </p:spTree>
    <p:extLst>
      <p:ext uri="{BB962C8B-B14F-4D97-AF65-F5344CB8AC3E}">
        <p14:creationId xmlns:p14="http://schemas.microsoft.com/office/powerpoint/2010/main" val="197641117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Modello dati e vincoli">
            <a:extLst xmlns:a="http://schemas.openxmlformats.org/drawingml/2006/main">
              <a:ext uri="{FF2B5EF4-FFF2-40B4-BE49-F238E27FC236}">
                <a16:creationId xmlns:a16="http://schemas.microsoft.com/office/drawing/2014/main" id="{F0DFEE2E-6EA3-4837-A1D3-313F7A4A1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B5C"/>
                </a:solidFill>
                <a:latin typeface="Arial"/>
                <a:ea typeface="Arial"/>
                <a:cs typeface="Arial"/>
              </a:rPr>
              <a:t>Modello dati e vincoli</a:t>
            </a:r>
          </a:p>
        </p:txBody>
      </p:sp>
      <p:sp>
        <p:nvSpPr>
          <p:cNvPr id="2" name="3">
            <a:extLst xmlns:a="http://schemas.openxmlformats.org/drawingml/2006/main">
              <a:ext uri="{FF2B5EF4-FFF2-40B4-BE49-F238E27FC236}">
                <a16:creationId xmlns:a16="http://schemas.microsoft.com/office/drawing/2014/main" id="{BF6DCFC2-89FD-45A2-9C65-739E01307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B7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F740B4-B9D4-4D39-9309-B0970C62DA9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0e7b41d8d24248"/>
          <a:stretch xmlns:a="http://schemas.openxmlformats.org/drawingml/2006/main"/>
        </p:blipFill>
        <p:spPr>
          <a:xfrm xmlns:a="http://schemas.openxmlformats.org/drawingml/2006/main">
            <a:off x="609600" y="1851471"/>
            <a:ext cx="10972800" cy="2697858"/>
          </a:xfrm>
          <a:prstGeom xmlns:a="http://schemas.openxmlformats.org/drawingml/2006/main" prst="rect">
            <a:avLst/>
          </a:prstGeom>
        </p:spPr>
      </p:pic>
      <p:sp>
        <p:nvSpPr>
          <p:cNvPr id="4" name="Email univoca e chiavi esterne nel mapping EF">
            <a:extLst xmlns:a="http://schemas.openxmlformats.org/drawingml/2006/main">
              <a:ext uri="{FF2B5EF4-FFF2-40B4-BE49-F238E27FC236}">
                <a16:creationId xmlns:a16="http://schemas.microsoft.com/office/drawing/2014/main" id="{970844ED-873B-489F-B9A0-EFA8B2B15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959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63746"/>
                </a:solidFill>
                <a:latin typeface="Arial"/>
                <a:ea typeface="Arial"/>
                <a:cs typeface="Arial"/>
              </a:rPr>
              <a:t>Email univoca e chiavi esterne nel mapping EF</a:t>
            </a:r>
          </a:p>
        </p:txBody>
      </p:sp>
      <p:sp>
        <p:nvSpPr>
          <p:cNvPr id="5" name="Vista sintetica. Tutte le relazioni e i vincoli nel documento.">
            <a:extLst xmlns:a="http://schemas.openxmlformats.org/drawingml/2006/main">
              <a:ext uri="{FF2B5EF4-FFF2-40B4-BE49-F238E27FC236}">
                <a16:creationId xmlns:a16="http://schemas.microsoft.com/office/drawing/2014/main" id="{B211A0AC-C346-4274-8E74-5117CCFCD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483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Vista sintetica. Tutte le relazioni e i vincoli nel documento.</a:t>
            </a:r>
          </a:p>
        </p:txBody>
      </p:sp>
    </p:spTree>
    <p:extLst>
      <p:ext uri="{BB962C8B-B14F-4D97-AF65-F5344CB8AC3E}">
        <p14:creationId xmlns:p14="http://schemas.microsoft.com/office/powerpoint/2010/main" val="84855235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Astrazioni object-oriented e dipendenze">
            <a:extLst xmlns:a="http://schemas.openxmlformats.org/drawingml/2006/main">
              <a:ext uri="{FF2B5EF4-FFF2-40B4-BE49-F238E27FC236}">
                <a16:creationId xmlns:a16="http://schemas.microsoft.com/office/drawing/2014/main" id="{4B911EEF-0797-44BB-A0D8-644B2BD3A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B5C"/>
                </a:solidFill>
                <a:latin typeface="Arial"/>
                <a:ea typeface="Arial"/>
                <a:cs typeface="Arial"/>
              </a:rPr>
              <a:t>Astrazioni object-oriented e dipendenze</a:t>
            </a:r>
          </a:p>
        </p:txBody>
      </p:sp>
      <p:sp>
        <p:nvSpPr>
          <p:cNvPr id="2" name="4">
            <a:extLst xmlns:a="http://schemas.openxmlformats.org/drawingml/2006/main">
              <a:ext uri="{FF2B5EF4-FFF2-40B4-BE49-F238E27FC236}">
                <a16:creationId xmlns:a16="http://schemas.microsoft.com/office/drawing/2014/main" id="{4CAFACAB-C56E-4C1E-BEAA-8B8A4CDDE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B7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FFF347-E3C3-4ADC-B384-A1D292870303}"/>
              </a:ext>
            </a:extLst>
          </p:cNvPr>
          <p:cNvGraphicFramePr/>
          <p:nvPr/>
        </p:nvGraphicFramePr>
        <p:xfrm>
          <a:off xmlns:a="http://schemas.openxmlformats.org/drawingml/2006/main" x="609600" y="1676400"/>
          <a:ext xmlns:a="http://schemas.openxmlformats.org/drawingml/2006/main" cx="10972800" cy="31813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238500"/>
                <a:gridCol w="7734300"/>
              </a:tblGrid>
              <a:tr h="795338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Scelta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DFE7"/>
                      </a:solidFill>
                      <a:prstDash val="solid"/>
                    </a:lnL>
                    <a:lnR w="9525">
                      <a:solidFill>
                        <a:srgbClr val="D5DFE7"/>
                      </a:solidFill>
                      <a:prstDash val="solid"/>
                    </a:lnR>
                    <a:lnT w="9525">
                      <a:solidFill>
                        <a:srgbClr val="D5DFE7"/>
                      </a:solidFill>
                      <a:prstDash val="solid"/>
                    </a:lnT>
                    <a:lnB w="9525">
                      <a:solidFill>
                        <a:srgbClr val="D5DFE7"/>
                      </a:solidFill>
                      <a:prstDash val="solid"/>
                    </a:lnB>
                    <a:solidFill>
                      <a:srgbClr val="183B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Responsabilità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7"/>
                      </a:solidFill>
                      <a:prstDash val="solid"/>
                    </a:lnR>
                    <a:lnT w="9525">
                      <a:solidFill>
                        <a:srgbClr val="D5DFE7"/>
                      </a:solidFill>
                      <a:prstDash val="solid"/>
                    </a:lnT>
                    <a:lnB w="9525">
                      <a:solidFill>
                        <a:srgbClr val="D5DFE7"/>
                      </a:solidFill>
                      <a:prstDash val="solid"/>
                    </a:lnB>
                    <a:solidFill>
                      <a:srgbClr val="183B5C"/>
                    </a:solidFill>
                  </a:tcPr>
                </a:tc>
              </a:tr>
              <a:tr h="795338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63746"/>
                          </a:solidFill>
                          <a:latin typeface="Arial"/>
                          <a:ea typeface="Arial"/>
                          <a:cs typeface="Arial"/>
                        </a:rPr>
                        <a:t>Contratti e DI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DFE7"/>
                      </a:solidFill>
                      <a:prstDash val="solid"/>
                    </a:lnL>
                    <a:lnR w="9525">
                      <a:solidFill>
                        <a:srgbClr val="D5DFE7"/>
                      </a:solidFill>
                      <a:prstDash val="solid"/>
                    </a:lnR>
                    <a:lnB w="9525">
                      <a:solidFill>
                        <a:srgbClr val="D5DF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63746"/>
                          </a:solidFill>
                          <a:latin typeface="Arial"/>
                          <a:ea typeface="Arial"/>
                          <a:cs typeface="Arial"/>
                        </a:rPr>
                        <a:t>Hash password e generazione JWT sostituibili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7"/>
                      </a:solidFill>
                      <a:prstDash val="solid"/>
                    </a:lnR>
                    <a:lnB w="9525">
                      <a:solidFill>
                        <a:srgbClr val="D5DF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95338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63746"/>
                          </a:solidFill>
                          <a:latin typeface="Arial"/>
                          <a:ea typeface="Arial"/>
                          <a:cs typeface="Arial"/>
                        </a:rPr>
                        <a:t>Regole pure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DFE7"/>
                      </a:solidFill>
                      <a:prstDash val="solid"/>
                    </a:lnL>
                    <a:lnR w="9525">
                      <a:solidFill>
                        <a:srgbClr val="D5DFE7"/>
                      </a:solidFill>
                      <a:prstDash val="solid"/>
                    </a:lnR>
                    <a:lnB w="9525">
                      <a:solidFill>
                        <a:srgbClr val="D5DF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63746"/>
                          </a:solidFill>
                          <a:latin typeface="Arial"/>
                          <a:ea typeface="Arial"/>
                          <a:cs typeface="Arial"/>
                        </a:rPr>
                        <a:t>IssueDomainService senza accesso al database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7"/>
                      </a:solidFill>
                      <a:prstDash val="solid"/>
                    </a:lnR>
                    <a:lnB w="9525">
                      <a:solidFill>
                        <a:srgbClr val="D5DF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95338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63746"/>
                          </a:solidFill>
                          <a:latin typeface="Arial"/>
                          <a:ea typeface="Arial"/>
                          <a:cs typeface="Arial"/>
                        </a:rPr>
                        <a:t>DTO ed entità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DFE7"/>
                      </a:solidFill>
                      <a:prstDash val="solid"/>
                    </a:lnL>
                    <a:lnR w="9525">
                      <a:solidFill>
                        <a:srgbClr val="D5DFE7"/>
                      </a:solidFill>
                      <a:prstDash val="solid"/>
                    </a:lnR>
                    <a:lnB w="9525">
                      <a:solidFill>
                        <a:srgbClr val="D5DF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63746"/>
                          </a:solidFill>
                          <a:latin typeface="Arial"/>
                          <a:ea typeface="Arial"/>
                          <a:cs typeface="Arial"/>
                        </a:rPr>
                        <a:t>Contratto HTTP distinto dalla persistenza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7"/>
                      </a:solidFill>
                      <a:prstDash val="solid"/>
                    </a:lnR>
                    <a:lnB w="9525">
                      <a:solidFill>
                        <a:srgbClr val="D5DF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I controller orchestrano e usano direttamente DbContext">
            <a:extLst xmlns:a="http://schemas.openxmlformats.org/drawingml/2006/main">
              <a:ext uri="{FF2B5EF4-FFF2-40B4-BE49-F238E27FC236}">
                <a16:creationId xmlns:a16="http://schemas.microsoft.com/office/drawing/2014/main" id="{29D43753-D97A-49A3-8BB9-520795C3C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63746"/>
                </a:solidFill>
                <a:latin typeface="Arial"/>
                <a:ea typeface="Arial"/>
                <a:cs typeface="Arial"/>
              </a:rPr>
              <a:t>I controller orchestrano e usano direttamente DbContext</a:t>
            </a:r>
          </a:p>
        </p:txBody>
      </p:sp>
      <p:sp>
        <p:nvSpPr>
          <p:cNvPr id="5" name="Il codice attuale non introduce repository applicativi">
            <a:extLst xmlns:a="http://schemas.openxmlformats.org/drawingml/2006/main">
              <a:ext uri="{FF2B5EF4-FFF2-40B4-BE49-F238E27FC236}">
                <a16:creationId xmlns:a16="http://schemas.microsoft.com/office/drawing/2014/main" id="{4FEB8375-D387-4C04-A0E6-683D493DA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483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Il codice attuale non introduce repository applicativi</a:t>
            </a:r>
          </a:p>
        </p:txBody>
      </p:sp>
    </p:spTree>
    <p:extLst>
      <p:ext uri="{BB962C8B-B14F-4D97-AF65-F5344CB8AC3E}">
        <p14:creationId xmlns:p14="http://schemas.microsoft.com/office/powerpoint/2010/main" val="21108776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ermessi e controlli sul backend">
            <a:extLst xmlns:a="http://schemas.openxmlformats.org/drawingml/2006/main">
              <a:ext uri="{FF2B5EF4-FFF2-40B4-BE49-F238E27FC236}">
                <a16:creationId xmlns:a16="http://schemas.microsoft.com/office/drawing/2014/main" id="{CC333E21-D74C-4BCC-B905-A018335B2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B5C"/>
                </a:solidFill>
                <a:latin typeface="Arial"/>
                <a:ea typeface="Arial"/>
                <a:cs typeface="Arial"/>
              </a:rPr>
              <a:t>Permessi e controlli sul backend</a:t>
            </a:r>
          </a:p>
        </p:txBody>
      </p:sp>
      <p:sp>
        <p:nvSpPr>
          <p:cNvPr id="2" name="5">
            <a:extLst xmlns:a="http://schemas.openxmlformats.org/drawingml/2006/main">
              <a:ext uri="{FF2B5EF4-FFF2-40B4-BE49-F238E27FC236}">
                <a16:creationId xmlns:a16="http://schemas.microsoft.com/office/drawing/2014/main" id="{BF5ACF2D-EA9C-4529-BC0F-73F8E9C14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B7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2DAA82-881B-4D75-9799-7D09E7F3F353}"/>
              </a:ext>
            </a:extLst>
          </p:cNvPr>
          <p:cNvGraphicFramePr/>
          <p:nvPr/>
        </p:nvGraphicFramePr>
        <p:xfrm>
          <a:off xmlns:a="http://schemas.openxmlformats.org/drawingml/2006/main" x="609600" y="1562100"/>
          <a:ext xmlns:a="http://schemas.openxmlformats.org/drawingml/2006/main" cx="10972800" cy="34861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857750"/>
                <a:gridCol w="1714500"/>
                <a:gridCol w="2686050"/>
                <a:gridCol w="1714500"/>
              </a:tblGrid>
              <a:tr h="5810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Operazione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DFE7"/>
                      </a:solidFill>
                      <a:prstDash val="solid"/>
                    </a:lnL>
                    <a:lnR w="9525">
                      <a:solidFill>
                        <a:srgbClr val="D5DFE7"/>
                      </a:solidFill>
                      <a:prstDash val="solid"/>
                    </a:lnR>
                    <a:lnT w="9525">
                      <a:solidFill>
                        <a:srgbClr val="D5DFE7"/>
                      </a:solidFill>
                      <a:prstDash val="solid"/>
                    </a:lnT>
                    <a:lnB w="9525">
                      <a:solidFill>
                        <a:srgbClr val="D5DFE7"/>
                      </a:solidFill>
                      <a:prstDash val="solid"/>
                    </a:lnB>
                    <a:solidFill>
                      <a:srgbClr val="183B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ADMIN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7"/>
                      </a:solidFill>
                      <a:prstDash val="solid"/>
                    </a:lnR>
                    <a:lnT w="9525">
                      <a:solidFill>
                        <a:srgbClr val="D5DFE7"/>
                      </a:solidFill>
                      <a:prstDash val="solid"/>
                    </a:lnT>
                    <a:lnB w="9525">
                      <a:solidFill>
                        <a:srgbClr val="D5DFE7"/>
                      </a:solidFill>
                      <a:prstDash val="solid"/>
                    </a:lnB>
                    <a:solidFill>
                      <a:srgbClr val="183B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USER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7"/>
                      </a:solidFill>
                      <a:prstDash val="solid"/>
                    </a:lnR>
                    <a:lnT w="9525">
                      <a:solidFill>
                        <a:srgbClr val="D5DFE7"/>
                      </a:solidFill>
                      <a:prstDash val="solid"/>
                    </a:lnT>
                    <a:lnB w="9525">
                      <a:solidFill>
                        <a:srgbClr val="D5DFE7"/>
                      </a:solidFill>
                      <a:prstDash val="solid"/>
                    </a:lnB>
                    <a:solidFill>
                      <a:srgbClr val="183B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READONLY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7"/>
                      </a:solidFill>
                      <a:prstDash val="solid"/>
                    </a:lnR>
                    <a:lnT w="9525">
                      <a:solidFill>
                        <a:srgbClr val="D5DFE7"/>
                      </a:solidFill>
                      <a:prstDash val="solid"/>
                    </a:lnT>
                    <a:lnB w="9525">
                      <a:solidFill>
                        <a:srgbClr val="D5DFE7"/>
                      </a:solidFill>
                      <a:prstDash val="solid"/>
                    </a:lnB>
                    <a:solidFill>
                      <a:srgbClr val="183B5C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746"/>
                          </a:solidFill>
                          <a:latin typeface="Arial"/>
                          <a:ea typeface="Arial"/>
                          <a:cs typeface="Arial"/>
                        </a:rPr>
                        <a:t>Consultare ed esportare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DFE7"/>
                      </a:solidFill>
                      <a:prstDash val="solid"/>
                    </a:lnL>
                    <a:lnR w="9525">
                      <a:solidFill>
                        <a:srgbClr val="D5DFE7"/>
                      </a:solidFill>
                      <a:prstDash val="solid"/>
                    </a:lnR>
                    <a:lnB w="9525">
                      <a:solidFill>
                        <a:srgbClr val="D5DF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746"/>
                          </a:solidFill>
                          <a:latin typeface="Arial"/>
                          <a:ea typeface="Arial"/>
                          <a:cs typeface="Arial"/>
                        </a:rPr>
                        <a:t>Sì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7"/>
                      </a:solidFill>
                      <a:prstDash val="solid"/>
                    </a:lnR>
                    <a:lnB w="9525">
                      <a:solidFill>
                        <a:srgbClr val="D5DF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746"/>
                          </a:solidFill>
                          <a:latin typeface="Arial"/>
                          <a:ea typeface="Arial"/>
                          <a:cs typeface="Arial"/>
                        </a:rPr>
                        <a:t>Sì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7"/>
                      </a:solidFill>
                      <a:prstDash val="solid"/>
                    </a:lnR>
                    <a:lnB w="9525">
                      <a:solidFill>
                        <a:srgbClr val="D5DF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746"/>
                          </a:solidFill>
                          <a:latin typeface="Arial"/>
                          <a:ea typeface="Arial"/>
                          <a:cs typeface="Arial"/>
                        </a:rPr>
                        <a:t>Sì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7"/>
                      </a:solidFill>
                      <a:prstDash val="solid"/>
                    </a:lnR>
                    <a:lnB w="9525">
                      <a:solidFill>
                        <a:srgbClr val="D5DF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746"/>
                          </a:solidFill>
                          <a:latin typeface="Arial"/>
                          <a:ea typeface="Arial"/>
                          <a:cs typeface="Arial"/>
                        </a:rPr>
                        <a:t>Creare issue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DFE7"/>
                      </a:solidFill>
                      <a:prstDash val="solid"/>
                    </a:lnL>
                    <a:lnR w="9525">
                      <a:solidFill>
                        <a:srgbClr val="D5DFE7"/>
                      </a:solidFill>
                      <a:prstDash val="solid"/>
                    </a:lnR>
                    <a:lnB w="9525">
                      <a:solidFill>
                        <a:srgbClr val="D5DF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746"/>
                          </a:solidFill>
                          <a:latin typeface="Arial"/>
                          <a:ea typeface="Arial"/>
                          <a:cs typeface="Arial"/>
                        </a:rPr>
                        <a:t>Sì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7"/>
                      </a:solidFill>
                      <a:prstDash val="solid"/>
                    </a:lnR>
                    <a:lnB w="9525">
                      <a:solidFill>
                        <a:srgbClr val="D5DF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746"/>
                          </a:solidFill>
                          <a:latin typeface="Arial"/>
                          <a:ea typeface="Arial"/>
                          <a:cs typeface="Arial"/>
                        </a:rPr>
                        <a:t>Sì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7"/>
                      </a:solidFill>
                      <a:prstDash val="solid"/>
                    </a:lnR>
                    <a:lnB w="9525">
                      <a:solidFill>
                        <a:srgbClr val="D5DF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746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7"/>
                      </a:solidFill>
                      <a:prstDash val="solid"/>
                    </a:lnR>
                    <a:lnB w="9525">
                      <a:solidFill>
                        <a:srgbClr val="D5DF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746"/>
                          </a:solidFill>
                          <a:latin typeface="Arial"/>
                          <a:ea typeface="Arial"/>
                          <a:cs typeface="Arial"/>
                        </a:rPr>
                        <a:t>Cambiare stato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DFE7"/>
                      </a:solidFill>
                      <a:prstDash val="solid"/>
                    </a:lnL>
                    <a:lnR w="9525">
                      <a:solidFill>
                        <a:srgbClr val="D5DFE7"/>
                      </a:solidFill>
                      <a:prstDash val="solid"/>
                    </a:lnR>
                    <a:lnB w="9525">
                      <a:solidFill>
                        <a:srgbClr val="D5DF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746"/>
                          </a:solidFill>
                          <a:latin typeface="Arial"/>
                          <a:ea typeface="Arial"/>
                          <a:cs typeface="Arial"/>
                        </a:rPr>
                        <a:t>Sì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7"/>
                      </a:solidFill>
                      <a:prstDash val="solid"/>
                    </a:lnR>
                    <a:lnB w="9525">
                      <a:solidFill>
                        <a:srgbClr val="D5DF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746"/>
                          </a:solidFill>
                          <a:latin typeface="Arial"/>
                          <a:ea typeface="Arial"/>
                          <a:cs typeface="Arial"/>
                        </a:rPr>
                        <a:t>Assegnatario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7"/>
                      </a:solidFill>
                      <a:prstDash val="solid"/>
                    </a:lnR>
                    <a:lnB w="9525">
                      <a:solidFill>
                        <a:srgbClr val="D5DF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746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7"/>
                      </a:solidFill>
                      <a:prstDash val="solid"/>
                    </a:lnR>
                    <a:lnB w="9525">
                      <a:solidFill>
                        <a:srgbClr val="D5DF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746"/>
                          </a:solidFill>
                          <a:latin typeface="Arial"/>
                          <a:ea typeface="Arial"/>
                          <a:cs typeface="Arial"/>
                        </a:rPr>
                        <a:t>Archiviare / duplicato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DFE7"/>
                      </a:solidFill>
                      <a:prstDash val="solid"/>
                    </a:lnL>
                    <a:lnR w="9525">
                      <a:solidFill>
                        <a:srgbClr val="D5DFE7"/>
                      </a:solidFill>
                      <a:prstDash val="solid"/>
                    </a:lnR>
                    <a:lnB w="9525">
                      <a:solidFill>
                        <a:srgbClr val="D5DF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746"/>
                          </a:solidFill>
                          <a:latin typeface="Arial"/>
                          <a:ea typeface="Arial"/>
                          <a:cs typeface="Arial"/>
                        </a:rPr>
                        <a:t>Sì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7"/>
                      </a:solidFill>
                      <a:prstDash val="solid"/>
                    </a:lnR>
                    <a:lnB w="9525">
                      <a:solidFill>
                        <a:srgbClr val="D5DF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746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7"/>
                      </a:solidFill>
                      <a:prstDash val="solid"/>
                    </a:lnR>
                    <a:lnB w="9525">
                      <a:solidFill>
                        <a:srgbClr val="D5DF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746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7"/>
                      </a:solidFill>
                      <a:prstDash val="solid"/>
                    </a:lnR>
                    <a:lnB w="9525">
                      <a:solidFill>
                        <a:srgbClr val="D5DF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746"/>
                          </a:solidFill>
                          <a:latin typeface="Arial"/>
                          <a:ea typeface="Arial"/>
                          <a:cs typeface="Arial"/>
                        </a:rPr>
                        <a:t>Gestire utenti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DFE7"/>
                      </a:solidFill>
                      <a:prstDash val="solid"/>
                    </a:lnL>
                    <a:lnR w="9525">
                      <a:solidFill>
                        <a:srgbClr val="D5DFE7"/>
                      </a:solidFill>
                      <a:prstDash val="solid"/>
                    </a:lnR>
                    <a:lnB w="9525">
                      <a:solidFill>
                        <a:srgbClr val="D5DF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746"/>
                          </a:solidFill>
                          <a:latin typeface="Arial"/>
                          <a:ea typeface="Arial"/>
                          <a:cs typeface="Arial"/>
                        </a:rPr>
                        <a:t>Sì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7"/>
                      </a:solidFill>
                      <a:prstDash val="solid"/>
                    </a:lnR>
                    <a:lnB w="9525">
                      <a:solidFill>
                        <a:srgbClr val="D5DF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746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7"/>
                      </a:solidFill>
                      <a:prstDash val="solid"/>
                    </a:lnR>
                    <a:lnB w="9525">
                      <a:solidFill>
                        <a:srgbClr val="D5DF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746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DFE7"/>
                      </a:solidFill>
                      <a:prstDash val="solid"/>
                    </a:lnR>
                    <a:lnB w="9525">
                      <a:solidFill>
                        <a:srgbClr val="D5DF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RF-17, decisione del gruppo: READONLY consulta le proprie notifiche">
            <a:extLst xmlns:a="http://schemas.openxmlformats.org/drawingml/2006/main">
              <a:ext uri="{FF2B5EF4-FFF2-40B4-BE49-F238E27FC236}">
                <a16:creationId xmlns:a16="http://schemas.microsoft.com/office/drawing/2014/main" id="{84976FBB-821E-4FBF-8EEC-430D13FE4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63746"/>
                </a:solidFill>
                <a:latin typeface="Arial"/>
                <a:ea typeface="Arial"/>
                <a:cs typeface="Arial"/>
              </a:rPr>
              <a:t>RF-17, decisione del gruppo: READONLY consulta le proprie notifiche</a:t>
            </a:r>
          </a:p>
        </p:txBody>
      </p:sp>
      <p:sp>
        <p:nvSpPr>
          <p:cNvPr id="5" name="Segna letta vietato. Allineamento e verifica ancora aperti.">
            <a:extLst xmlns:a="http://schemas.openxmlformats.org/drawingml/2006/main">
              <a:ext uri="{FF2B5EF4-FFF2-40B4-BE49-F238E27FC236}">
                <a16:creationId xmlns:a16="http://schemas.microsoft.com/office/drawing/2014/main" id="{3A416CF7-BCB0-41D7-B471-D78B3BD50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3405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Segna letta vietato. Allineamento e verifica ancora aperti.</a:t>
            </a:r>
          </a:p>
        </p:txBody>
      </p:sp>
    </p:spTree>
    <p:extLst>
      <p:ext uri="{BB962C8B-B14F-4D97-AF65-F5344CB8AC3E}">
        <p14:creationId xmlns:p14="http://schemas.microsoft.com/office/powerpoint/2010/main" val="78213507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Risoluzione e notifica: persistenza e ripetizione">
            <a:extLst xmlns:a="http://schemas.openxmlformats.org/drawingml/2006/main">
              <a:ext uri="{FF2B5EF4-FFF2-40B4-BE49-F238E27FC236}">
                <a16:creationId xmlns:a16="http://schemas.microsoft.com/office/drawing/2014/main" id="{7FB96ADC-D1B7-46BD-8CAB-E11F16A93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B5C"/>
                </a:solidFill>
                <a:latin typeface="Arial"/>
                <a:ea typeface="Arial"/>
                <a:cs typeface="Arial"/>
              </a:rPr>
              <a:t>Risoluzione e notifica: persistenza e ripetizione</a:t>
            </a:r>
          </a:p>
        </p:txBody>
      </p:sp>
      <p:sp>
        <p:nvSpPr>
          <p:cNvPr id="2" name="6">
            <a:extLst xmlns:a="http://schemas.openxmlformats.org/drawingml/2006/main">
              <a:ext uri="{FF2B5EF4-FFF2-40B4-BE49-F238E27FC236}">
                <a16:creationId xmlns:a16="http://schemas.microsoft.com/office/drawing/2014/main" id="{9EE53CC5-E77B-457B-988E-F1E27DF0E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B77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3" name="1. Account attivo e permesso di modifica">
            <a:extLst xmlns:a="http://schemas.openxmlformats.org/drawingml/2006/main">
              <a:ext uri="{FF2B5EF4-FFF2-40B4-BE49-F238E27FC236}">
                <a16:creationId xmlns:a16="http://schemas.microsoft.com/office/drawing/2014/main" id="{8647FDF0-C59C-483C-93C4-E0EADD20A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63746"/>
                </a:solidFill>
                <a:latin typeface="Arial"/>
                <a:ea typeface="Arial"/>
                <a:cs typeface="Arial"/>
              </a:rPr>
              <a:t>1. Account attivo e permesso di modifica</a:t>
            </a:r>
          </a:p>
        </p:txBody>
      </p:sp>
      <p:sp>
        <p:nvSpPr>
          <p:cNvPr id="4" name="2. Stato e date UTC aggiornati nel controller">
            <a:extLst xmlns:a="http://schemas.openxmlformats.org/drawingml/2006/main">
              <a:ext uri="{FF2B5EF4-FFF2-40B4-BE49-F238E27FC236}">
                <a16:creationId xmlns:a16="http://schemas.microsoft.com/office/drawing/2014/main" id="{0B40D0AC-CF5A-4EA3-B3F7-2B470E497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2. Stato e date UTC aggiornati nel controller</a:t>
            </a:r>
          </a:p>
        </p:txBody>
      </p:sp>
      <p:sp>
        <p:nvSpPr>
          <p:cNvPr id="5" name="3. Notifica non letta al segnalatore">
            <a:extLst xmlns:a="http://schemas.openxmlformats.org/drawingml/2006/main">
              <a:ext uri="{FF2B5EF4-FFF2-40B4-BE49-F238E27FC236}">
                <a16:creationId xmlns:a16="http://schemas.microsoft.com/office/drawing/2014/main" id="{02F59E91-D83F-46E6-9D37-8177E4294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3. Notifica non letta al segnalatore</a:t>
            </a:r>
          </a:p>
        </p:txBody>
      </p:sp>
      <p:sp>
        <p:nvSpPr>
          <p:cNvPr id="6" name="4. Un salvataggio EF per issue e notifica">
            <a:extLst xmlns:a="http://schemas.openxmlformats.org/drawingml/2006/main">
              <a:ext uri="{FF2B5EF4-FFF2-40B4-BE49-F238E27FC236}">
                <a16:creationId xmlns:a16="http://schemas.microsoft.com/office/drawing/2014/main" id="{DAA146DC-C3AE-47D7-B1A1-1647E2569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4. Un salvataggio EF per issue e notifica</a:t>
            </a:r>
          </a:p>
        </p:txBody>
      </p:sp>
      <p:sp>
        <p:nvSpPr>
          <p:cNvPr id="7" name="Stesso stato: date e notifiche restano invariate">
            <a:extLst xmlns:a="http://schemas.openxmlformats.org/drawingml/2006/main">
              <a:ext uri="{FF2B5EF4-FFF2-40B4-BE49-F238E27FC236}">
                <a16:creationId xmlns:a16="http://schemas.microsoft.com/office/drawing/2014/main" id="{FE5DB6BE-1386-458C-9EC9-94073B046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63746"/>
                </a:solidFill>
                <a:latin typeface="Arial"/>
                <a:ea typeface="Arial"/>
                <a:cs typeface="Arial"/>
              </a:rPr>
              <a:t>Stesso stato: date e notifiche restano invariate</a:t>
            </a:r>
          </a:p>
        </p:txBody>
      </p:sp>
    </p:spTree>
    <p:extLst>
      <p:ext uri="{BB962C8B-B14F-4D97-AF65-F5344CB8AC3E}">
        <p14:creationId xmlns:p14="http://schemas.microsoft.com/office/powerpoint/2010/main" val="145406256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trategia di test e piano UC-02">
            <a:extLst xmlns:a="http://schemas.openxmlformats.org/drawingml/2006/main">
              <a:ext uri="{FF2B5EF4-FFF2-40B4-BE49-F238E27FC236}">
                <a16:creationId xmlns:a16="http://schemas.microsoft.com/office/drawing/2014/main" id="{589FC914-32E6-435C-BEA5-96A474B87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B5C"/>
                </a:solidFill>
                <a:latin typeface="Arial"/>
                <a:ea typeface="Arial"/>
                <a:cs typeface="Arial"/>
              </a:rPr>
              <a:t>Strategia di test e piano UC-02</a:t>
            </a:r>
          </a:p>
        </p:txBody>
      </p:sp>
      <p:sp>
        <p:nvSpPr>
          <p:cNvPr id="2" name="7">
            <a:extLst xmlns:a="http://schemas.openxmlformats.org/drawingml/2006/main">
              <a:ext uri="{FF2B5EF4-FFF2-40B4-BE49-F238E27FC236}">
                <a16:creationId xmlns:a16="http://schemas.microsoft.com/office/drawing/2014/main" id="{DA68D9EF-1C35-4AB6-B2DC-7541E9EA1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B77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3" name="SearchIssues: titolo, descrizione, nessun risultato">
            <a:extLst xmlns:a="http://schemas.openxmlformats.org/drawingml/2006/main">
              <a:ext uri="{FF2B5EF4-FFF2-40B4-BE49-F238E27FC236}">
                <a16:creationId xmlns:a16="http://schemas.microsoft.com/office/drawing/2014/main" id="{DDE23B9C-3173-4C47-AC59-365696928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63746"/>
                </a:solidFill>
                <a:latin typeface="Arial"/>
                <a:ea typeface="Arial"/>
                <a:cs typeface="Arial"/>
              </a:rPr>
              <a:t>SearchIssues: titolo, descrizione, nessun risultato</a:t>
            </a:r>
          </a:p>
        </p:txBody>
      </p:sp>
      <p:sp>
        <p:nvSpPr>
          <p:cNvPr id="4" name="CanChangeIssueStatus: ruolo, attività e assegnazione">
            <a:extLst xmlns:a="http://schemas.openxmlformats.org/drawingml/2006/main">
              <a:ext uri="{FF2B5EF4-FFF2-40B4-BE49-F238E27FC236}">
                <a16:creationId xmlns:a16="http://schemas.microsoft.com/office/drawing/2014/main" id="{612496B5-CC17-4E7F-8376-0CBEA59D9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CanChangeIssueStatus: ruolo, attività e assegnazione</a:t>
            </a:r>
          </a:p>
        </p:txBody>
      </p:sp>
      <p:sp>
        <p:nvSpPr>
          <p:cNvPr id="5" name="SuggestAssignee: carico e assenza di candidati">
            <a:extLst xmlns:a="http://schemas.openxmlformats.org/drawingml/2006/main">
              <a:ext uri="{FF2B5EF4-FFF2-40B4-BE49-F238E27FC236}">
                <a16:creationId xmlns:a16="http://schemas.microsoft.com/office/drawing/2014/main" id="{8E7CA28C-3DAC-4E39-80CB-7E4AFCDA9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956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SuggestAssignee: carico e assenza di candidati</a:t>
            </a:r>
          </a:p>
        </p:txBody>
      </p:sp>
      <p:sp>
        <p:nvSpPr>
          <p:cNvPr id="6" name="TP-UC02: permessi, date, notifiche e ripetizione">
            <a:extLst xmlns:a="http://schemas.openxmlformats.org/drawingml/2006/main">
              <a:ext uri="{FF2B5EF4-FFF2-40B4-BE49-F238E27FC236}">
                <a16:creationId xmlns:a16="http://schemas.microsoft.com/office/drawing/2014/main" id="{88CE5260-F533-4FE3-9FA5-07A89C2E7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672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63746"/>
                </a:solidFill>
                <a:latin typeface="Arial"/>
                <a:ea typeface="Arial"/>
                <a:cs typeface="Arial"/>
              </a:rPr>
              <a:t>TP-UC02: permessi, date, notifiche e ripetizione</a:t>
            </a:r>
          </a:p>
        </p:txBody>
      </p:sp>
      <p:sp>
        <p:nvSpPr>
          <p:cNvPr id="7" name="xUnit in memoria e test HTTP con PostgreSQL isolato">
            <a:extLst xmlns:a="http://schemas.openxmlformats.org/drawingml/2006/main">
              <a:ext uri="{FF2B5EF4-FFF2-40B4-BE49-F238E27FC236}">
                <a16:creationId xmlns:a16="http://schemas.microsoft.com/office/drawing/2014/main" id="{8911CF40-70AB-4DC1-8828-7C78AF47B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xUnit in memoria e test HTTP con PostgreSQL isolato</a:t>
            </a:r>
          </a:p>
        </p:txBody>
      </p:sp>
      <p:sp>
        <p:nvSpPr>
          <p:cNvPr id="8" name="Strategie documentate. Esiti finali da acquisire.">
            <a:extLst xmlns:a="http://schemas.openxmlformats.org/drawingml/2006/main">
              <a:ext uri="{FF2B5EF4-FFF2-40B4-BE49-F238E27FC236}">
                <a16:creationId xmlns:a16="http://schemas.microsoft.com/office/drawing/2014/main" id="{BDD31933-620C-4B51-807A-9981C38E4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63746"/>
                </a:solidFill>
                <a:latin typeface="Arial"/>
                <a:ea typeface="Arial"/>
                <a:cs typeface="Arial"/>
              </a:rPr>
              <a:t>Strategie documentate. Esiti finali da acquisire.</a:t>
            </a:r>
          </a:p>
        </p:txBody>
      </p:sp>
    </p:spTree>
    <p:extLst>
      <p:ext uri="{BB962C8B-B14F-4D97-AF65-F5344CB8AC3E}">
        <p14:creationId xmlns:p14="http://schemas.microsoft.com/office/powerpoint/2010/main" val="187047377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Qualità, usabilità ed evidenze aperte">
            <a:extLst xmlns:a="http://schemas.openxmlformats.org/drawingml/2006/main">
              <a:ext uri="{FF2B5EF4-FFF2-40B4-BE49-F238E27FC236}">
                <a16:creationId xmlns:a16="http://schemas.microsoft.com/office/drawing/2014/main" id="{F282D4DC-9C9D-4716-96C7-5AC6D87CB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B5C"/>
                </a:solidFill>
                <a:latin typeface="Arial"/>
                <a:ea typeface="Arial"/>
                <a:cs typeface="Arial"/>
              </a:rPr>
              <a:t>Qualità, usabilità ed evidenze aperte</a:t>
            </a:r>
          </a:p>
        </p:txBody>
      </p:sp>
      <p:sp>
        <p:nvSpPr>
          <p:cNvPr id="2" name="8">
            <a:extLst xmlns:a="http://schemas.openxmlformats.org/drawingml/2006/main">
              <a:ext uri="{FF2B5EF4-FFF2-40B4-BE49-F238E27FC236}">
                <a16:creationId xmlns:a16="http://schemas.microsoft.com/office/drawing/2014/main" id="{E4717892-81C5-4F83-AC95-586F1E830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B77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3" name="Collaudo frontend">
            <a:extLst xmlns:a="http://schemas.openxmlformats.org/drawingml/2006/main">
              <a:ext uri="{FF2B5EF4-FFF2-40B4-BE49-F238E27FC236}">
                <a16:creationId xmlns:a16="http://schemas.microsoft.com/office/drawing/2014/main" id="{4D23E8F9-7940-4298-B875-9D2D067D5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72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63746"/>
                </a:solidFill>
                <a:latin typeface="Arial"/>
                <a:ea typeface="Arial"/>
                <a:cs typeface="Arial"/>
              </a:rPr>
              <a:t>Collaudo frontend</a:t>
            </a:r>
          </a:p>
        </p:txBody>
      </p:sp>
      <p:sp>
        <p:nvSpPr>
          <p:cNvPr id="4" name="Riepilogo reale di Valerio. Report permanente atteso.">
            <a:extLst xmlns:a="http://schemas.openxmlformats.org/drawingml/2006/main">
              <a:ext uri="{FF2B5EF4-FFF2-40B4-BE49-F238E27FC236}">
                <a16:creationId xmlns:a16="http://schemas.microsoft.com/office/drawing/2014/main" id="{C661A5E0-5663-4EE6-83EF-387E06CC7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050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Riepilogo reale di Valerio. Report permanente atteso.</a:t>
            </a:r>
          </a:p>
        </p:txBody>
      </p:sp>
      <p:sp>
        <p:nvSpPr>
          <p:cNvPr id="5" name="Qualità backend">
            <a:extLst xmlns:a="http://schemas.openxmlformats.org/drawingml/2006/main">
              <a:ext uri="{FF2B5EF4-FFF2-40B4-BE49-F238E27FC236}">
                <a16:creationId xmlns:a16="http://schemas.microsoft.com/office/drawing/2014/main" id="{C87A4E3D-5B11-4AEB-9B5A-AC2F94C6B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9900"/>
            <a:ext cx="10972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63746"/>
                </a:solidFill>
                <a:latin typeface="Arial"/>
                <a:ea typeface="Arial"/>
                <a:cs typeface="Arial"/>
              </a:rPr>
              <a:t>Qualità backend</a:t>
            </a:r>
          </a:p>
        </p:txBody>
      </p:sp>
      <p:sp>
        <p:nvSpPr>
          <p:cNvPr id="6" name="Amico 1 depositerà gli esiti in verifica-backend/.">
            <a:extLst xmlns:a="http://schemas.openxmlformats.org/drawingml/2006/main">
              <a:ext uri="{FF2B5EF4-FFF2-40B4-BE49-F238E27FC236}">
                <a16:creationId xmlns:a16="http://schemas.microsoft.com/office/drawing/2014/main" id="{AC40E364-A5F2-45A3-9370-F33392953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528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Amico 1 depositerà gli esiti in verifica-backend/.</a:t>
            </a:r>
          </a:p>
        </p:txBody>
      </p:sp>
      <p:sp>
        <p:nvSpPr>
          <p:cNvPr id="7" name="Usabilità e conformità CASE">
            <a:extLst xmlns:a="http://schemas.openxmlformats.org/drawingml/2006/main">
              <a:ext uri="{FF2B5EF4-FFF2-40B4-BE49-F238E27FC236}">
                <a16:creationId xmlns:a16="http://schemas.microsoft.com/office/drawing/2014/main" id="{250BB4D3-F885-4AA7-B537-1734B737F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57700"/>
            <a:ext cx="10972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63746"/>
                </a:solidFill>
                <a:latin typeface="Arial"/>
                <a:ea typeface="Arial"/>
                <a:cs typeface="Arial"/>
              </a:rPr>
              <a:t>Usabilità e conformità CASE</a:t>
            </a:r>
          </a:p>
        </p:txBody>
      </p:sp>
      <p:sp>
        <p:nvSpPr>
          <p:cNvPr id="8" name="Prove con utenti e accettazione del tool ancora aperte.">
            <a:extLst xmlns:a="http://schemas.openxmlformats.org/drawingml/2006/main">
              <a:ext uri="{FF2B5EF4-FFF2-40B4-BE49-F238E27FC236}">
                <a16:creationId xmlns:a16="http://schemas.microsoft.com/office/drawing/2014/main" id="{83F59A18-C572-4E0C-BF5F-9D0CDEAE2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0062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Prove con utenti e accettazione del tool ancora aperte.</a:t>
            </a:r>
          </a:p>
        </p:txBody>
      </p:sp>
      <p:sp>
        <p:nvSpPr>
          <p:cNvPr id="9" name="Documentazione aperta fino alle evidenze necessarie">
            <a:extLst xmlns:a="http://schemas.openxmlformats.org/drawingml/2006/main">
              <a:ext uri="{FF2B5EF4-FFF2-40B4-BE49-F238E27FC236}">
                <a16:creationId xmlns:a16="http://schemas.microsoft.com/office/drawing/2014/main" id="{B864719C-179F-43F8-9C3D-DDC2D1F1B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63746"/>
                </a:solidFill>
                <a:latin typeface="Arial"/>
                <a:ea typeface="Arial"/>
                <a:cs typeface="Arial"/>
              </a:rPr>
              <a:t>Documentazione aperta fino alle evidenze necessarie</a:t>
            </a:r>
          </a:p>
        </p:txBody>
      </p:sp>
    </p:spTree>
    <p:extLst>
      <p:ext uri="{BB962C8B-B14F-4D97-AF65-F5344CB8AC3E}">
        <p14:creationId xmlns:p14="http://schemas.microsoft.com/office/powerpoint/2010/main" val="103181184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Demo breve coordinata con il frontend">
            <a:extLst xmlns:a="http://schemas.openxmlformats.org/drawingml/2006/main">
              <a:ext uri="{FF2B5EF4-FFF2-40B4-BE49-F238E27FC236}">
                <a16:creationId xmlns:a16="http://schemas.microsoft.com/office/drawing/2014/main" id="{6AFF4B10-9D65-494B-986E-F32F8812D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3B5C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B5C"/>
                </a:solidFill>
                <a:latin typeface="Arial"/>
                <a:ea typeface="Arial"/>
                <a:cs typeface="Arial"/>
              </a:rPr>
              <a:t>Demo breve coordinata con il frontend</a:t>
            </a:r>
          </a:p>
        </p:txBody>
      </p:sp>
      <p:sp>
        <p:nvSpPr>
          <p:cNvPr id="2" name="9">
            <a:extLst xmlns:a="http://schemas.openxmlformats.org/drawingml/2006/main">
              <a:ext uri="{FF2B5EF4-FFF2-40B4-BE49-F238E27FC236}">
                <a16:creationId xmlns:a16="http://schemas.microsoft.com/office/drawing/2014/main" id="{865CF3B1-C244-4118-BEA1-DAE859AD8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D6B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6B77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3" name="READONLY consulta, filtra ed esporta">
            <a:extLst xmlns:a="http://schemas.openxmlformats.org/drawingml/2006/main">
              <a:ext uri="{FF2B5EF4-FFF2-40B4-BE49-F238E27FC236}">
                <a16:creationId xmlns:a16="http://schemas.microsoft.com/office/drawing/2014/main" id="{5952E7F2-F06D-4F1C-949F-5210C946B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263746"/>
                </a:solidFill>
                <a:latin typeface="Arial"/>
                <a:ea typeface="Arial"/>
                <a:cs typeface="Arial"/>
              </a:rPr>
              <a:t>READONLY consulta, filtra ed esporta</a:t>
            </a:r>
          </a:p>
        </p:txBody>
      </p:sp>
      <p:sp>
        <p:nvSpPr>
          <p:cNvPr id="4" name="L’assegnatario risolve una issue predisposta">
            <a:extLst xmlns:a="http://schemas.openxmlformats.org/drawingml/2006/main">
              <a:ext uri="{FF2B5EF4-FFF2-40B4-BE49-F238E27FC236}">
                <a16:creationId xmlns:a16="http://schemas.microsoft.com/office/drawing/2014/main" id="{4B41737A-9481-428C-BFA1-0CE6D7838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99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7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L’assegnatario risolve una issue predisposta</a:t>
            </a:r>
          </a:p>
        </p:txBody>
      </p:sp>
      <p:sp>
        <p:nvSpPr>
          <p:cNvPr id="5" name="Il segnalatore ritrova e legge la notifica">
            <a:extLst xmlns:a="http://schemas.openxmlformats.org/drawingml/2006/main">
              <a:ext uri="{FF2B5EF4-FFF2-40B4-BE49-F238E27FC236}">
                <a16:creationId xmlns:a16="http://schemas.microsoft.com/office/drawing/2014/main" id="{D7FF0FD2-E850-4EB9-BCA1-AF78388CF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767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7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Il segnalatore ritrova e legge la notifica</a:t>
            </a:r>
          </a:p>
        </p:txBody>
      </p:sp>
      <p:sp>
        <p:nvSpPr>
          <p:cNvPr id="6" name="Passaggio al collega e prova congiunta ancora da confermare">
            <a:extLst xmlns:a="http://schemas.openxmlformats.org/drawingml/2006/main">
              <a:ext uri="{FF2B5EF4-FFF2-40B4-BE49-F238E27FC236}">
                <a16:creationId xmlns:a16="http://schemas.microsoft.com/office/drawing/2014/main" id="{0C303D95-B1A0-4A7C-8E70-178AF53BA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63746"/>
                </a:solidFill>
                <a:latin typeface="Arial"/>
                <a:ea typeface="Arial"/>
                <a:cs typeface="Arial"/>
              </a:rPr>
              <a:t>Passaggio al collega e prova congiunta ancora da confermare</a:t>
            </a:r>
          </a:p>
        </p:txBody>
      </p:sp>
    </p:spTree>
    <p:extLst>
      <p:ext uri="{BB962C8B-B14F-4D97-AF65-F5344CB8AC3E}">
        <p14:creationId xmlns:p14="http://schemas.microsoft.com/office/powerpoint/2010/main" val="151222657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2026-10-16T13:49:01.4370000Z</dcterms:created>
  <dcterms:modified xsi:type="dcterms:W3CDTF">2026-10-16T13:49:01.4370000Z</dcterms:modified>
</coreProperties>
</file>