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dc14d25434132" /><Relationship Type="http://schemas.openxmlformats.org/officeDocument/2006/relationships/extended-properties" Target="/docProps/app.xml" Id="R9e4b48bf23914fc8" /><Relationship Type="http://schemas.openxmlformats.org/officeDocument/2006/relationships/officeDocument" Target="/ppt/presentation.xml" Id="R7ae8bb23b584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9fcb5d1dd54046"/>
  </p:sldMasterIdLst>
  <p:notesMasterIdLst>
    <p:notesMasterId xmlns:r="http://schemas.openxmlformats.org/officeDocument/2006/relationships" r:id="R92a5e3e608f24b14"/>
  </p:notesMasterIdLst>
  <p:sldIdLst>
    <p:sldId xmlns:r="http://schemas.openxmlformats.org/officeDocument/2006/relationships" id="256" r:id="R270df99e7136418a"/>
    <p:sldId xmlns:r="http://schemas.openxmlformats.org/officeDocument/2006/relationships" id="257" r:id="R39f924d08f6b4e8c"/>
    <p:sldId xmlns:r="http://schemas.openxmlformats.org/officeDocument/2006/relationships" id="258" r:id="R5ee78a1f997943f4"/>
    <p:sldId xmlns:r="http://schemas.openxmlformats.org/officeDocument/2006/relationships" id="259" r:id="Rd898a4a656d34348"/>
    <p:sldId xmlns:r="http://schemas.openxmlformats.org/officeDocument/2006/relationships" id="260" r:id="Rcb8df1ba0898436d"/>
    <p:sldId xmlns:r="http://schemas.openxmlformats.org/officeDocument/2006/relationships" id="261" r:id="R54e2a11e463141a3"/>
    <p:sldId xmlns:r="http://schemas.openxmlformats.org/officeDocument/2006/relationships" id="262" r:id="R77e746a9eee84e5f"/>
    <p:sldId xmlns:r="http://schemas.openxmlformats.org/officeDocument/2006/relationships" id="263" r:id="Rebf4e4863e4d4f0b"/>
    <p:sldId xmlns:r="http://schemas.openxmlformats.org/officeDocument/2006/relationships" id="264" r:id="Rd19f426f4fac4a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9225ab70a4bb3" /><Relationship Type="http://schemas.openxmlformats.org/officeDocument/2006/relationships/slideMaster" Target="/ppt/slideMasters/slideMaster1.xml" Id="R9f9fcb5d1dd54046" /><Relationship Type="http://schemas.openxmlformats.org/officeDocument/2006/relationships/notesMaster" Target="/ppt/notesMasters/notesMaster1.xml" Id="R92a5e3e608f24b14" /><Relationship Type="http://schemas.openxmlformats.org/officeDocument/2006/relationships/presProps" Target="/ppt/presProps.xml" Id="Ra132b42b00cc4f80" /><Relationship Type="http://schemas.openxmlformats.org/officeDocument/2006/relationships/tableStyles" Target="/ppt/tableStyles.xml" Id="R2469adf2386845f1" /><Relationship Type="http://schemas.openxmlformats.org/officeDocument/2006/relationships/slide" Target="/ppt/slides/slide1.xml" Id="R270df99e7136418a" /><Relationship Type="http://schemas.openxmlformats.org/officeDocument/2006/relationships/slide" Target="/ppt/slides/slide2.xml" Id="R39f924d08f6b4e8c" /><Relationship Type="http://schemas.openxmlformats.org/officeDocument/2006/relationships/slide" Target="/ppt/slides/slide3.xml" Id="R5ee78a1f997943f4" /><Relationship Type="http://schemas.openxmlformats.org/officeDocument/2006/relationships/slide" Target="/ppt/slides/slide4.xml" Id="Rd898a4a656d34348" /><Relationship Type="http://schemas.openxmlformats.org/officeDocument/2006/relationships/slide" Target="/ppt/slides/slide5.xml" Id="Rcb8df1ba0898436d" /><Relationship Type="http://schemas.openxmlformats.org/officeDocument/2006/relationships/slide" Target="/ppt/slides/slide6.xml" Id="R54e2a11e463141a3" /><Relationship Type="http://schemas.openxmlformats.org/officeDocument/2006/relationships/slide" Target="/ppt/slides/slide7.xml" Id="R77e746a9eee84e5f" /><Relationship Type="http://schemas.openxmlformats.org/officeDocument/2006/relationships/slide" Target="/ppt/slides/slide8.xml" Id="Rebf4e4863e4d4f0b" /><Relationship Type="http://schemas.openxmlformats.org/officeDocument/2006/relationships/slide" Target="/ppt/slides/slide9.xml" Id="Rd19f426f4fac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4cb29fa9d444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0fa849ebc4632" /><Relationship Type="http://schemas.openxmlformats.org/officeDocument/2006/relationships/notesMaster" Target="/ppt/notesMasters/notesMaster1.xml" Id="R1802495111d84a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06c7b3973d467f" /><Relationship Type="http://schemas.openxmlformats.org/officeDocument/2006/relationships/notesMaster" Target="/ppt/notesMasters/notesMaster1.xml" Id="R51aa11d5b7be47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832b380e9e493b" /><Relationship Type="http://schemas.openxmlformats.org/officeDocument/2006/relationships/notesMaster" Target="/ppt/notesMasters/notesMaster1.xml" Id="Rebd7e8cb1759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9a4161b5f4947" /><Relationship Type="http://schemas.openxmlformats.org/officeDocument/2006/relationships/notesMaster" Target="/ppt/notesMasters/notesMaster1.xml" Id="R7c28ff72cb6f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78937a91044bb4" /><Relationship Type="http://schemas.openxmlformats.org/officeDocument/2006/relationships/notesMaster" Target="/ppt/notesMasters/notesMaster1.xml" Id="Rf1a148a540bc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9e07329d41466b" /><Relationship Type="http://schemas.openxmlformats.org/officeDocument/2006/relationships/notesMaster" Target="/ppt/notesMasters/notesMaster1.xml" Id="R1e7744a602444d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9909aea08d4a78" /><Relationship Type="http://schemas.openxmlformats.org/officeDocument/2006/relationships/notesMaster" Target="/ppt/notesMasters/notesMaster1.xml" Id="Rfe2ee365615247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e0f478c454cfb" /><Relationship Type="http://schemas.openxmlformats.org/officeDocument/2006/relationships/notesMaster" Target="/ppt/notesMasters/notesMaster1.xml" Id="Re80d0c4412ad4d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22c07f85d142c2" /><Relationship Type="http://schemas.openxmlformats.org/officeDocument/2006/relationships/notesMaster" Target="/ppt/notesMasters/notesMaster1.xml" Id="Rb3a68f87016445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20 secondi.</a:t>
            </a:r>
          </a:p>
          <a:p xmlns:a="http://schemas.openxmlformats.org/drawingml/2006/main">
            <a:r>
              <a:t>Progetto SWE 2025/2026, modalità tradizionale. Perimetro assegnato: funzionalita 1, 2, 3, 6, 8, 11, 13, 14, 15, 16. Risultati tecnici acquisiti il 19 ottobre sul commit 6aa175a e correzioni locali non committate. Restano prove con persone, decisione CASE e prova cronometrata. Fonte: traccia §§3.2, 8, 10 e verifica-backend/audit-20261019.md. Repository: https://github.com/Valeriop03/BugBoard26.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Spiegare perché SPA e API sono eseguibili separatamente. Il browser chiama REST con JWT, il backend centralizza dati e regole. EF Core/Npgsql accede a PostgreSQL; i file immagine risiedono nello storage backend. Compose esegue API e database, Angular resta sul PC. Motivare indipendenza dalla UI e limite del setup HTTP locale. Fonti: backend/BugBoard26.Api/Program.cs, docker/docker-compose.yml, README.md, component_diagram.puml. Il disegno è una vista sintetica del modello esistente.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Descrivere User, Issue e Notification. Issue ha segnalatore obbligatorio, assegnatario e originale duplicato opzionali. Unique email e FK configurate in EF. Distinguere validazione degli assegnatari dal vincolo SQL. ImagePath è un riferimento al file; non un BLOB. Le regole DeleteBehavior sono nel diagramma dati completo. La vista sintetica omette alcune associazioni: AssignedToId e UserId sono FK verso User, DuplicateOfIssueId è una FK verso Issue. Consultare il modello completo per tutte le molteplicità e cancellazioni. Fonti: Models/*.cs, Data/ApplicationDbContext.cs, Migrations/20260629102322_InitialCreate.cs, database_schema.puml.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Motivare le astrazioni presenti, senza attribuire pattern assenti. PasswordHasher e JwtTokenService implementano interfacce sostituibili tramite DI. IssueDomainService è una classe concreta con regole pure. DTO separano HTTP ed entità, DbContext è ricevuto direttamente dai controller. Le entità non sono un dominio ricco: orchestrazione e salvataggi sono nei controller. Limite: dipendenza da EF da verificare con test HTTP/PostgreSQL. Fonti: Program.cs, Services/IPasswordHasher.cs, IJwtTokenService.cs, IssueDomainService.cs, Controllers, class_diagram.puml.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La UI nasconde comandi ma il server resta il punto di controllo. Distinguere creazione, cambio stato, archivio/duplicati e gestione utenti. CanChangeIssueStatus verifica account attivo e assegnazione. Non attribuire un lookup account attivo a ogni endpoint: Archive e MarkAsDuplicate usano il ruolo JWT. RF-17 e una decisione del gruppo, non del docente: READONLY consulta le proprie notifiche ma non le segna lette. Verificati GET 200, PATCH read 403 senza scritture e assenza del comando UI. Il menu Utenti e ora visibile solo ad ADMIN, con tre test dedicati. Fonti: controller, IssueDomainService, auth.guard.ts, app.component.spec.ts e report di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Seguire la sequenza cambio stato esistente. Ingresso in Resolved aggiorna UpdatedAt e ResolvedAt e aggiunge Notification per CreatedById, non per AssignedToId. Una sola SaveChangesAsync persiste le modifiche. Stesso stato valido su issue non duplicata non scrive date o notifiche. Uscire da Resolved azzera ResolvedAt, senza cancellare notifiche. Duplicate è rifiutato nel percorso status con 400, una issue già duplicata dà 409. Non introdurre una matrice generale di transizioni assente nel codice. Fonti: IssuesController.UpdateStatus, sequence_cambio_stato.puml, IssueStatusIntegrationTests.cs.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80 secondi.</a:t>
            </a:r>
          </a:p>
          <a:p xmlns:a="http://schemas.openxmlformats.org/drawingml/2006/main">
            <a:r>
              <a:t>Tre metodi non banali a due parametri testati in xUnit. SearchIssues: titolo, descrizione, nessuna corrispondenza; assert sul conteggio, non sugli ID. CanChangeIssueStatus: ruoli, attivita, assegnazione. SuggestAssignee: carichi e assenza candidati. Restano limiti unitari documentati su null/trim e parita; i test HTTP con PostgreSQL dedicato coprono anche query, permessi e persistenza. Suite corrente 166/166: 11 test di dominio e 155 integrazione. Tutti i 14 casi del test plan hanno evidenze, inclusi riapertura e seconda risoluzione, account disattivato e ripetizione della lettura. Sei test hanno prima riprodotto valori enum invalidi accettati, poi verificato la correzione dei DTO. Frontend 36/36. Fonti: TRX, test_plan.tex, strategie_dominio.tex, audit-20261019.md.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Analisi SonarQube realmente completata il 19 ottobre: Quality Gate OK, coverage complessiva 93,7%, linee 95,7%, branch 88,2%, zero bug e vulnerabilita segnalati, quattro code smell residui. Questi numeri non dimostrano assenza assoluta di difetti. Test backend 166/166 e frontend 36/36; collaudo browser reale con API Docker e PostgreSQL separato, non mock. Persistenza di dati e immagine verificata dopo riavvio e ricreazione del backend; volumi conservati. Review tecnica assistita parziale: corretti menu e nome accessibile ricerca. Restano osservazioni con persone e survey, review umana completa, decisione CASE e prova cronometrata. I report precedenti restano storici. Fonti: verifica-backend/audit-20261019.md, finalizzazione-20261019.md, aggiornamento-20261019.md, usabilita.md.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35 secondi.</a:t>
            </a:r>
          </a:p>
          <a:p xmlns:a="http://schemas.openxmlformats.org/drawingml/2006/main">
            <a:r>
              <a:t>Passare al collega frontend dopo la presentazione tecnica. Proposta di demo successiva di 2-3 minuti, da concordare e provare realmente. Preparare account distinti S e A, READONLY e una issue già assegnata. Legare ogni passaggio a un controllo tecnico. Non dichiarare collaudata la demo prima della prova. Tutti i membri devono conoscere ogni parte del sistema. Fonte: consegna.md e traccia §10. Budget complessivo delle slide: 540 secondi, previsione non prova cronometrata.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d58de1b9f48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24236efd048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919858eaa45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5b56f380847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83749f80f40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d58cd275045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9D18DC-A5AB-4B25-81B5-100D2518F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5EBBCF-AAD2-4604-809D-BED26CF555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605B23-CCE0-476C-BC17-4E1D65714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C262DE-6B66-45CE-A7D7-55741EADB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811381-69F1-4B40-81B3-7D7E22416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79EE8B-4B8C-4977-A5B3-3B4DAECE35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AC4F0-07D8-48FB-B36E-48F454198F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D3CE20-6412-4E3C-AB96-0833DCD36E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75C8A3-F5B2-4916-9408-D7BD537AF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AF8AC4-7317-4975-96A0-72DA4101AB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63611ca46e4e88" /><Relationship Type="http://schemas.openxmlformats.org/officeDocument/2006/relationships/slideLayout" Target="/ppt/slideLayouts/slideLayout1.xml" Id="R2d70a909a8664820" /><Relationship Type="http://schemas.openxmlformats.org/officeDocument/2006/relationships/slideLayout" Target="/ppt/slideLayouts/slideLayout2.xml" Id="R63f1942f60f944bc" /><Relationship Type="http://schemas.openxmlformats.org/officeDocument/2006/relationships/slideLayout" Target="/ppt/slideLayouts/slideLayout3.xml" Id="Rae82b18732724e52" /><Relationship Type="http://schemas.openxmlformats.org/officeDocument/2006/relationships/slideLayout" Target="/ppt/slideLayouts/slideLayout4.xml" Id="R219a7f9c0148400e" /><Relationship Type="http://schemas.openxmlformats.org/officeDocument/2006/relationships/slideLayout" Target="/ppt/slideLayouts/slideLayout5.xml" Id="R2dea421d9b1e419a" /><Relationship Type="http://schemas.openxmlformats.org/officeDocument/2006/relationships/slideLayout" Target="/ppt/slideLayouts/slideLayout6.xml" Id="R4034bb0876c048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70a909a8664820"/>
    <p:sldLayoutId xmlns:r="http://schemas.openxmlformats.org/officeDocument/2006/relationships" id="2147483650" r:id="R63f1942f60f944bc"/>
    <p:sldLayoutId xmlns:r="http://schemas.openxmlformats.org/officeDocument/2006/relationships" id="2147483651" r:id="Rae82b18732724e52"/>
    <p:sldLayoutId xmlns:r="http://schemas.openxmlformats.org/officeDocument/2006/relationships" id="2147483652" r:id="R219a7f9c0148400e"/>
    <p:sldLayoutId xmlns:r="http://schemas.openxmlformats.org/officeDocument/2006/relationships" id="2147483653" r:id="R2dea421d9b1e419a"/>
    <p:sldLayoutId xmlns:r="http://schemas.openxmlformats.org/officeDocument/2006/relationships" id="2147483654" r:id="R4034bb0876c048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926bb5e0f41af" /><Relationship Type="http://schemas.openxmlformats.org/officeDocument/2006/relationships/notesSlide" Target="/ppt/notesSlides/notesSlide1.xml" Id="R488a32d816c5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a8061d10946d9" /><Relationship Type="http://schemas.openxmlformats.org/officeDocument/2006/relationships/image" Target="/ppt/media/image.png" Id="Rb0173557f85d4518" /><Relationship Type="http://schemas.openxmlformats.org/officeDocument/2006/relationships/notesSlide" Target="/ppt/notesSlides/notesSlide2.xml" Id="R6e8de3e1fd1f4e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8b2e76ac345df" /><Relationship Type="http://schemas.openxmlformats.org/officeDocument/2006/relationships/image" Target="/ppt/media/image2.png" Id="R885341659c774eb3" /><Relationship Type="http://schemas.openxmlformats.org/officeDocument/2006/relationships/notesSlide" Target="/ppt/notesSlides/notesSlide3.xml" Id="R3e8be7e5b88844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c95a0f5cf454c" /><Relationship Type="http://schemas.openxmlformats.org/officeDocument/2006/relationships/notesSlide" Target="/ppt/notesSlides/notesSlide4.xml" Id="R65718a0bdb0d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571124a9740c3" /><Relationship Type="http://schemas.openxmlformats.org/officeDocument/2006/relationships/notesSlide" Target="/ppt/notesSlides/notesSlide5.xml" Id="R5a99d72c079940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aecb6557a41bc" /><Relationship Type="http://schemas.openxmlformats.org/officeDocument/2006/relationships/notesSlide" Target="/ppt/notesSlides/notesSlide6.xml" Id="Rfd47957639f0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91402b4404803" /><Relationship Type="http://schemas.openxmlformats.org/officeDocument/2006/relationships/notesSlide" Target="/ppt/notesSlides/notesSlide7.xml" Id="Rcea9328f31ab4c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b6cbe716694082" /><Relationship Type="http://schemas.openxmlformats.org/officeDocument/2006/relationships/notesSlide" Target="/ppt/notesSlides/notesSlide8.xml" Id="R453af9c7b33b46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46cb70f6644538" /><Relationship Type="http://schemas.openxmlformats.org/officeDocument/2006/relationships/notesSlide" Target="/ppt/notesSlides/notesSlide9.xml" Id="Rdad8645ccf4c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ugBoard26">
            <a:extLst xmlns:a="http://schemas.openxmlformats.org/drawingml/2006/main">
              <a:ext uri="{FF2B5EF4-FFF2-40B4-BE49-F238E27FC236}">
                <a16:creationId xmlns:a16="http://schemas.microsoft.com/office/drawing/2014/main" id="{A2604D94-B890-4C93-92CA-637196E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BugBoard26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2D16BBE6-A52F-4B91-9042-465D821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Architettura, modello e verifica">
            <a:extLst xmlns:a="http://schemas.openxmlformats.org/drawingml/2006/main">
              <a:ext uri="{FF2B5EF4-FFF2-40B4-BE49-F238E27FC236}">
                <a16:creationId xmlns:a16="http://schemas.microsoft.com/office/drawing/2014/main" id="{4707FFB2-82D7-4D96-97A7-0DCE6CE6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Architettura, modello e verifica</a:t>
            </a:r>
          </a:p>
        </p:txBody>
      </p:sp>
      <p:sp>
        <p:nvSpPr>
          <p:cNvPr id="4" name="Progetto di Ingegneria del Software 2025/2026">
            <a:extLst xmlns:a="http://schemas.openxmlformats.org/drawingml/2006/main">
              <a:ext uri="{FF2B5EF4-FFF2-40B4-BE49-F238E27FC236}">
                <a16:creationId xmlns:a16="http://schemas.microsoft.com/office/drawing/2014/main" id="{BEC10554-1973-44BE-AC97-278D1F8D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Progetto di Ingegneria del Software 2025/2026</a:t>
            </a:r>
          </a:p>
        </p:txBody>
      </p:sp>
      <p:sp>
        <p:nvSpPr>
          <p:cNvPr id="5" name="Verifica tecnica e documentale del 19 ottobre 2026">
            <a:extLst xmlns:a="http://schemas.openxmlformats.org/drawingml/2006/main">
              <a:ext uri="{FF2B5EF4-FFF2-40B4-BE49-F238E27FC236}">
                <a16:creationId xmlns:a16="http://schemas.microsoft.com/office/drawing/2014/main" id="{D5B81661-255E-4CEC-872F-923024C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Verifica tecnica e documentale del 19 ottobre 2026</a:t>
            </a:r>
          </a:p>
        </p:txBody>
      </p:sp>
      <p:sp>
        <p:nvSpPr>
          <p:cNvPr id="6" name="Risultati reali e limiti dichiarati">
            <a:extLst xmlns:a="http://schemas.openxmlformats.org/drawingml/2006/main">
              <a:ext uri="{FF2B5EF4-FFF2-40B4-BE49-F238E27FC236}">
                <a16:creationId xmlns:a16="http://schemas.microsoft.com/office/drawing/2014/main" id="{BC733AD6-14C1-439D-AC85-1CE87CD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Risultati reali e limiti dichiarati</a:t>
            </a:r>
          </a:p>
        </p:txBody>
      </p:sp>
    </p:spTree>
    <p:extLst>
      <p:ext uri="{BB962C8B-B14F-4D97-AF65-F5344CB8AC3E}">
        <p14:creationId xmlns:p14="http://schemas.microsoft.com/office/powerpoint/2010/main" val="2115470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rchitettura e separazione dei componenti">
            <a:extLst xmlns:a="http://schemas.openxmlformats.org/drawingml/2006/main">
              <a:ext uri="{FF2B5EF4-FFF2-40B4-BE49-F238E27FC236}">
                <a16:creationId xmlns:a16="http://schemas.microsoft.com/office/drawing/2014/main" id="{29DFE250-6EB6-4AC9-9484-7A9B92C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 e separazione dei componenti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44184C45-E87A-420E-884E-38436C8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BCCC6-441E-4318-A34E-11C92DC05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73557f85d4518"/>
          <a:stretch xmlns:a="http://schemas.openxmlformats.org/drawingml/2006/main"/>
        </p:blipFill>
        <p:spPr>
          <a:xfrm xmlns:a="http://schemas.openxmlformats.org/drawingml/2006/main">
            <a:off x="609600" y="2075221"/>
            <a:ext cx="10972800" cy="2212258"/>
          </a:xfrm>
          <a:prstGeom xmlns:a="http://schemas.openxmlformats.org/drawingml/2006/main" prst="rect">
            <a:avLst/>
          </a:prstGeom>
        </p:spPr>
      </p:pic>
      <p:sp>
        <p:nvSpPr>
          <p:cNvPr id="4" name="Backend autonomo. Stato persistente centralizzato.">
            <a:extLst xmlns:a="http://schemas.openxmlformats.org/drawingml/2006/main">
              <a:ext uri="{FF2B5EF4-FFF2-40B4-BE49-F238E27FC236}">
                <a16:creationId xmlns:a16="http://schemas.microsoft.com/office/drawing/2014/main" id="{4FB5F4FB-5FB9-413A-9EF2-A469568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Backend autonomo. Stato persistente centralizzato.</a:t>
            </a:r>
          </a:p>
        </p:txBody>
      </p:sp>
      <p:sp>
        <p:nvSpPr>
          <p:cNvPr id="5" name="Angular sul PC, API e PostgreSQL separati in Compose">
            <a:extLst xmlns:a="http://schemas.openxmlformats.org/drawingml/2006/main">
              <a:ext uri="{FF2B5EF4-FFF2-40B4-BE49-F238E27FC236}">
                <a16:creationId xmlns:a16="http://schemas.microsoft.com/office/drawing/2014/main" id="{887E51F5-F3FD-44A1-BDAC-06C70DC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Angular sul PC, API e PostgreSQL separati in Compose</a:t>
            </a:r>
          </a:p>
        </p:txBody>
      </p:sp>
    </p:spTree>
    <p:extLst>
      <p:ext uri="{BB962C8B-B14F-4D97-AF65-F5344CB8AC3E}">
        <p14:creationId xmlns:p14="http://schemas.microsoft.com/office/powerpoint/2010/main" val="448556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odello dati e vincoli">
            <a:extLst xmlns:a="http://schemas.openxmlformats.org/drawingml/2006/main">
              <a:ext uri="{FF2B5EF4-FFF2-40B4-BE49-F238E27FC236}">
                <a16:creationId xmlns:a16="http://schemas.microsoft.com/office/drawing/2014/main" id="{55EB4D13-4FE7-427B-AB76-624D3B1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Modello dati e vincoli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E537A8E7-8BA8-4BA4-96ED-9065FB73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2A919-C20D-4CCB-860C-26CE5A7675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341659c774eb3"/>
          <a:stretch xmlns:a="http://schemas.openxmlformats.org/drawingml/2006/main"/>
        </p:blipFill>
        <p:spPr>
          <a:xfrm xmlns:a="http://schemas.openxmlformats.org/drawingml/2006/main">
            <a:off x="609600" y="1851471"/>
            <a:ext cx="10972800" cy="2697858"/>
          </a:xfrm>
          <a:prstGeom xmlns:a="http://schemas.openxmlformats.org/drawingml/2006/main" prst="rect">
            <a:avLst/>
          </a:prstGeom>
        </p:spPr>
      </p:pic>
      <p:sp>
        <p:nvSpPr>
          <p:cNvPr id="4" name="Email univoca e chiavi esterne nel mapping EF">
            <a:extLst xmlns:a="http://schemas.openxmlformats.org/drawingml/2006/main">
              <a:ext uri="{FF2B5EF4-FFF2-40B4-BE49-F238E27FC236}">
                <a16:creationId xmlns:a16="http://schemas.microsoft.com/office/drawing/2014/main" id="{07EB2A90-C0D8-49F0-A8EF-DFBFF76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Email univoca e chiavi esterne nel mapping EF</a:t>
            </a:r>
          </a:p>
        </p:txBody>
      </p:sp>
      <p:sp>
        <p:nvSpPr>
          <p:cNvPr id="5" name="Vista sintetica. Tutte le relazioni e i vincoli nel documento.">
            <a:extLst xmlns:a="http://schemas.openxmlformats.org/drawingml/2006/main">
              <a:ext uri="{FF2B5EF4-FFF2-40B4-BE49-F238E27FC236}">
                <a16:creationId xmlns:a16="http://schemas.microsoft.com/office/drawing/2014/main" id="{1A4178BB-7E40-45E2-8DD7-8032C5B8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Vista sintetica. Tutte le relazioni e i vincoli nel documento.</a:t>
            </a:r>
          </a:p>
        </p:txBody>
      </p:sp>
    </p:spTree>
    <p:extLst>
      <p:ext uri="{BB962C8B-B14F-4D97-AF65-F5344CB8AC3E}">
        <p14:creationId xmlns:p14="http://schemas.microsoft.com/office/powerpoint/2010/main" val="1116870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strazioni object-oriented e dipendenze">
            <a:extLst xmlns:a="http://schemas.openxmlformats.org/drawingml/2006/main">
              <a:ext uri="{FF2B5EF4-FFF2-40B4-BE49-F238E27FC236}">
                <a16:creationId xmlns:a16="http://schemas.microsoft.com/office/drawing/2014/main" id="{D7FD37C7-4BBF-48EB-A95C-046AA2B0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Astrazioni object-oriented e dipendenze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9E3F20EC-F6AF-4F37-AF4A-E7525C72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BD03-0A3C-43F9-8AAB-FA77142FA841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953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Scelta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Responsabilità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Contratti e DI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Hash password e generazione JWT sostituibili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Regole pure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IssueDomainService senza accesso al database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DTO ed entità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Contratto HTTP distinto dalla persistenza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 controller orchestrano e usano direttamente DbContext">
            <a:extLst xmlns:a="http://schemas.openxmlformats.org/drawingml/2006/main">
              <a:ext uri="{FF2B5EF4-FFF2-40B4-BE49-F238E27FC236}">
                <a16:creationId xmlns:a16="http://schemas.microsoft.com/office/drawing/2014/main" id="{9E788CB1-4C99-4482-B9B6-0747923D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 controller orchestrano e usano direttamente DbContext</a:t>
            </a:r>
          </a:p>
        </p:txBody>
      </p:sp>
      <p:sp>
        <p:nvSpPr>
          <p:cNvPr id="5" name="Il codice attuale non introduce repository applicativi">
            <a:extLst xmlns:a="http://schemas.openxmlformats.org/drawingml/2006/main">
              <a:ext uri="{FF2B5EF4-FFF2-40B4-BE49-F238E27FC236}">
                <a16:creationId xmlns:a16="http://schemas.microsoft.com/office/drawing/2014/main" id="{EE9148AE-3DD8-4C07-AB12-909FD4B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codice attuale non introduce repository applicativi</a:t>
            </a:r>
          </a:p>
        </p:txBody>
      </p:sp>
    </p:spTree>
    <p:extLst>
      <p:ext uri="{BB962C8B-B14F-4D97-AF65-F5344CB8AC3E}">
        <p14:creationId xmlns:p14="http://schemas.microsoft.com/office/powerpoint/2010/main" val="1409264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ermessi e controlli sul backend">
            <a:extLst xmlns:a="http://schemas.openxmlformats.org/drawingml/2006/main">
              <a:ext uri="{FF2B5EF4-FFF2-40B4-BE49-F238E27FC236}">
                <a16:creationId xmlns:a16="http://schemas.microsoft.com/office/drawing/2014/main" id="{58BA3681-C2DC-46BD-A864-17C7260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Permessi e controlli sul backend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22CD982B-E33A-4977-9E9B-0B5B1DA1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BBC0E-CC80-4370-8726-DF2F68CD4EC7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57750"/>
                <a:gridCol w="1714500"/>
                <a:gridCol w="2686050"/>
                <a:gridCol w="17145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Operazione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Consultare ed esportare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Creare issue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Cambiare stato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Assegnatario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Archiviare / duplicato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Gestire utenti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F-17, decisione del gruppo: READONLY consulta le proprie notifiche">
            <a:extLst xmlns:a="http://schemas.openxmlformats.org/drawingml/2006/main">
              <a:ext uri="{FF2B5EF4-FFF2-40B4-BE49-F238E27FC236}">
                <a16:creationId xmlns:a16="http://schemas.microsoft.com/office/drawing/2014/main" id="{DD2EBCB9-3600-4F4A-95D6-7EE3897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RF-17, decisione del gruppo: READONLY consulta le proprie notifiche</a:t>
            </a:r>
          </a:p>
        </p:txBody>
      </p:sp>
      <p:sp>
        <p:nvSpPr>
          <p:cNvPr id="5" name="PATCH read: 403 senza scritture. Verificato anche nella UI.">
            <a:extLst xmlns:a="http://schemas.openxmlformats.org/drawingml/2006/main">
              <a:ext uri="{FF2B5EF4-FFF2-40B4-BE49-F238E27FC236}">
                <a16:creationId xmlns:a16="http://schemas.microsoft.com/office/drawing/2014/main" id="{2C92811B-8415-4D92-80CA-4601832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PATCH read: 403 senza scritture. Verificato anche nella UI.</a:t>
            </a:r>
          </a:p>
        </p:txBody>
      </p:sp>
    </p:spTree>
    <p:extLst>
      <p:ext uri="{BB962C8B-B14F-4D97-AF65-F5344CB8AC3E}">
        <p14:creationId xmlns:p14="http://schemas.microsoft.com/office/powerpoint/2010/main" val="1505755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isoluzione e notifica: persistenza e ripetizione">
            <a:extLst xmlns:a="http://schemas.openxmlformats.org/drawingml/2006/main">
              <a:ext uri="{FF2B5EF4-FFF2-40B4-BE49-F238E27FC236}">
                <a16:creationId xmlns:a16="http://schemas.microsoft.com/office/drawing/2014/main" id="{D79D7882-5C5F-4D6B-80D3-B994B3BA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Risoluzione e notifica: persistenza e ripetizione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7AC251BA-F985-4F7F-99F9-688622E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1. Account attivo e permesso di modifica">
            <a:extLst xmlns:a="http://schemas.openxmlformats.org/drawingml/2006/main">
              <a:ext uri="{FF2B5EF4-FFF2-40B4-BE49-F238E27FC236}">
                <a16:creationId xmlns:a16="http://schemas.microsoft.com/office/drawing/2014/main" id="{66DF859E-C2F3-46AD-8A9F-33BFBDA8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Account attivo e permesso di modifica</a:t>
            </a:r>
          </a:p>
        </p:txBody>
      </p:sp>
      <p:sp>
        <p:nvSpPr>
          <p:cNvPr id="4" name="2. Stato e date UTC aggiornati nel controller">
            <a:extLst xmlns:a="http://schemas.openxmlformats.org/drawingml/2006/main">
              <a:ext uri="{FF2B5EF4-FFF2-40B4-BE49-F238E27FC236}">
                <a16:creationId xmlns:a16="http://schemas.microsoft.com/office/drawing/2014/main" id="{799E1FC3-7990-4AD2-988B-E3E66E4E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2. Stato e date UTC aggiornati nel controller</a:t>
            </a:r>
          </a:p>
        </p:txBody>
      </p:sp>
      <p:sp>
        <p:nvSpPr>
          <p:cNvPr id="5" name="3. Notifica non letta al segnalatore">
            <a:extLst xmlns:a="http://schemas.openxmlformats.org/drawingml/2006/main">
              <a:ext uri="{FF2B5EF4-FFF2-40B4-BE49-F238E27FC236}">
                <a16:creationId xmlns:a16="http://schemas.microsoft.com/office/drawing/2014/main" id="{38BBA67E-C15B-41CA-AB5B-4E00F95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3. Notifica non letta al segnalatore</a:t>
            </a:r>
          </a:p>
        </p:txBody>
      </p:sp>
      <p:sp>
        <p:nvSpPr>
          <p:cNvPr id="6" name="4. Un salvataggio EF per issue e notifica">
            <a:extLst xmlns:a="http://schemas.openxmlformats.org/drawingml/2006/main">
              <a:ext uri="{FF2B5EF4-FFF2-40B4-BE49-F238E27FC236}">
                <a16:creationId xmlns:a16="http://schemas.microsoft.com/office/drawing/2014/main" id="{29CA369B-FCC6-4EF8-8FCB-A4B93CA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4. Un salvataggio EF per issue e notifica</a:t>
            </a:r>
          </a:p>
        </p:txBody>
      </p:sp>
      <p:sp>
        <p:nvSpPr>
          <p:cNvPr id="7" name="Stesso stato: date e notifiche restano invariate">
            <a:extLst xmlns:a="http://schemas.openxmlformats.org/drawingml/2006/main">
              <a:ext uri="{FF2B5EF4-FFF2-40B4-BE49-F238E27FC236}">
                <a16:creationId xmlns:a16="http://schemas.microsoft.com/office/drawing/2014/main" id="{3C500B69-DF41-4997-ABB3-513E13E9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Stesso stato: date e notifiche restano invariate</a:t>
            </a:r>
          </a:p>
        </p:txBody>
      </p:sp>
    </p:spTree>
    <p:extLst>
      <p:ext uri="{BB962C8B-B14F-4D97-AF65-F5344CB8AC3E}">
        <p14:creationId xmlns:p14="http://schemas.microsoft.com/office/powerpoint/2010/main" val="1436632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trategia di test e piano UC-02">
            <a:extLst xmlns:a="http://schemas.openxmlformats.org/drawingml/2006/main">
              <a:ext uri="{FF2B5EF4-FFF2-40B4-BE49-F238E27FC236}">
                <a16:creationId xmlns:a16="http://schemas.microsoft.com/office/drawing/2014/main" id="{5FD11EFB-0D94-4A2A-8722-7EBE839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Strategia di test e piano UC-02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38CFF5DB-B48B-436D-B2F4-10BA63D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SearchIssues: titolo, descrizione, nessun risultato">
            <a:extLst xmlns:a="http://schemas.openxmlformats.org/drawingml/2006/main">
              <a:ext uri="{FF2B5EF4-FFF2-40B4-BE49-F238E27FC236}">
                <a16:creationId xmlns:a16="http://schemas.microsoft.com/office/drawing/2014/main" id="{EA9E6A27-F2F1-4DBD-84E9-D09FBD1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SearchIssues: titolo, descrizione, nessun risultato</a:t>
            </a:r>
          </a:p>
        </p:txBody>
      </p:sp>
      <p:sp>
        <p:nvSpPr>
          <p:cNvPr id="4" name="CanChangeIssueStatus: ruolo, attività e assegnazione">
            <a:extLst xmlns:a="http://schemas.openxmlformats.org/drawingml/2006/main">
              <a:ext uri="{FF2B5EF4-FFF2-40B4-BE49-F238E27FC236}">
                <a16:creationId xmlns:a16="http://schemas.microsoft.com/office/drawing/2014/main" id="{F6B46ECA-D0B5-4392-B50B-2196D687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CanChangeIssueStatus: ruolo, attività e assegnazione</a:t>
            </a:r>
          </a:p>
        </p:txBody>
      </p:sp>
      <p:sp>
        <p:nvSpPr>
          <p:cNvPr id="5" name="SuggestAssignee: carico e assenza di candidati">
            <a:extLst xmlns:a="http://schemas.openxmlformats.org/drawingml/2006/main">
              <a:ext uri="{FF2B5EF4-FFF2-40B4-BE49-F238E27FC236}">
                <a16:creationId xmlns:a16="http://schemas.microsoft.com/office/drawing/2014/main" id="{875F0E96-EF99-4125-9704-B58E0DE3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SuggestAssignee: carico e assenza di candidati</a:t>
            </a:r>
          </a:p>
        </p:txBody>
      </p:sp>
      <p:sp>
        <p:nvSpPr>
          <p:cNvPr id="6" name="TP-UC02: permessi, date, notifiche e ripetizione">
            <a:extLst xmlns:a="http://schemas.openxmlformats.org/drawingml/2006/main">
              <a:ext uri="{FF2B5EF4-FFF2-40B4-BE49-F238E27FC236}">
                <a16:creationId xmlns:a16="http://schemas.microsoft.com/office/drawing/2014/main" id="{04B05431-82F7-4D39-A6A5-0EE5B33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TP-UC02: permessi, date, notifiche e ripetizione</a:t>
            </a:r>
          </a:p>
        </p:txBody>
      </p:sp>
      <p:sp>
        <p:nvSpPr>
          <p:cNvPr id="7" name="xUnit in memoria e test HTTP con PostgreSQL isolato">
            <a:extLst xmlns:a="http://schemas.openxmlformats.org/drawingml/2006/main">
              <a:ext uri="{FF2B5EF4-FFF2-40B4-BE49-F238E27FC236}">
                <a16:creationId xmlns:a16="http://schemas.microsoft.com/office/drawing/2014/main" id="{F5B0ABE3-0491-4AAD-82A8-CD1598E7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xUnit in memoria e test HTTP con PostgreSQL isolato</a:t>
            </a:r>
          </a:p>
        </p:txBody>
      </p:sp>
      <p:sp>
        <p:nvSpPr>
          <p:cNvPr id="8" name="166 test backend superati. Evidenze per tutti i 14 casi TP.">
            <a:extLst xmlns:a="http://schemas.openxmlformats.org/drawingml/2006/main">
              <a:ext uri="{FF2B5EF4-FFF2-40B4-BE49-F238E27FC236}">
                <a16:creationId xmlns:a16="http://schemas.microsoft.com/office/drawing/2014/main" id="{F46BB2B4-1A5F-43E8-9BBA-BA2DE51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166 test backend superati. Evidenze per tutti i 14 casi TP.</a:t>
            </a:r>
          </a:p>
        </p:txBody>
      </p:sp>
    </p:spTree>
    <p:extLst>
      <p:ext uri="{BB962C8B-B14F-4D97-AF65-F5344CB8AC3E}">
        <p14:creationId xmlns:p14="http://schemas.microsoft.com/office/powerpoint/2010/main" val="467548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ualità misurata e attività ancora aperte">
            <a:extLst xmlns:a="http://schemas.openxmlformats.org/drawingml/2006/main">
              <a:ext uri="{FF2B5EF4-FFF2-40B4-BE49-F238E27FC236}">
                <a16:creationId xmlns:a16="http://schemas.microsoft.com/office/drawing/2014/main" id="{71E455CE-B38F-48E6-908D-3E8DAA5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Qualità misurata e attività ancora aperte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E1D3722D-2E52-4D86-A7C1-852D961E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Collaudo frontend">
            <a:extLst xmlns:a="http://schemas.openxmlformats.org/drawingml/2006/main">
              <a:ext uri="{FF2B5EF4-FFF2-40B4-BE49-F238E27FC236}">
                <a16:creationId xmlns:a16="http://schemas.microsoft.com/office/drawing/2014/main" id="{8F7AC73F-F4E2-468D-88E6-16B2BA32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Collaudo frontend</a:t>
            </a:r>
          </a:p>
        </p:txBody>
      </p:sp>
      <p:sp>
        <p:nvSpPr>
          <p:cNvPr id="4" name="36 test superati e percorsi UI/API reali, senza mock.">
            <a:extLst xmlns:a="http://schemas.openxmlformats.org/drawingml/2006/main">
              <a:ext uri="{FF2B5EF4-FFF2-40B4-BE49-F238E27FC236}">
                <a16:creationId xmlns:a16="http://schemas.microsoft.com/office/drawing/2014/main" id="{3F691355-975F-4E69-A447-D31BC21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36 test superati e percorsi UI/API reali, senza mock.</a:t>
            </a:r>
          </a:p>
        </p:txBody>
      </p:sp>
      <p:sp>
        <p:nvSpPr>
          <p:cNvPr id="5" name="Qualità backend">
            <a:extLst xmlns:a="http://schemas.openxmlformats.org/drawingml/2006/main">
              <a:ext uri="{FF2B5EF4-FFF2-40B4-BE49-F238E27FC236}">
                <a16:creationId xmlns:a16="http://schemas.microsoft.com/office/drawing/2014/main" id="{0EC518D2-8213-4C7C-A0EB-4BEC3E1C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Qualità backend</a:t>
            </a:r>
          </a:p>
        </p:txBody>
      </p:sp>
      <p:sp>
        <p:nvSpPr>
          <p:cNvPr id="6" name="Coverage 93,7%. Gate OK. Zero bug e vulnerabilità segnalati.">
            <a:extLst xmlns:a="http://schemas.openxmlformats.org/drawingml/2006/main">
              <a:ext uri="{FF2B5EF4-FFF2-40B4-BE49-F238E27FC236}">
                <a16:creationId xmlns:a16="http://schemas.microsoft.com/office/drawing/2014/main" id="{6D7C611D-81C3-46BE-BE3E-3E2BFF5E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Coverage 93,7%. Gate OK. Zero bug e vulnerabilità segnalati.</a:t>
            </a:r>
          </a:p>
        </p:txBody>
      </p:sp>
      <p:sp>
        <p:nvSpPr>
          <p:cNvPr id="7" name="Usabilità e conformità CASE">
            <a:extLst xmlns:a="http://schemas.openxmlformats.org/drawingml/2006/main">
              <a:ext uri="{FF2B5EF4-FFF2-40B4-BE49-F238E27FC236}">
                <a16:creationId xmlns:a16="http://schemas.microsoft.com/office/drawing/2014/main" id="{646EBB9D-C6F3-4410-9F9B-5AAF1C7F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Usabilità e conformità CASE</a:t>
            </a:r>
          </a:p>
        </p:txBody>
      </p:sp>
      <p:sp>
        <p:nvSpPr>
          <p:cNvPr id="8" name="Prove con utenti e accettazione del tool ancora aperte.">
            <a:extLst xmlns:a="http://schemas.openxmlformats.org/drawingml/2006/main">
              <a:ext uri="{FF2B5EF4-FFF2-40B4-BE49-F238E27FC236}">
                <a16:creationId xmlns:a16="http://schemas.microsoft.com/office/drawing/2014/main" id="{CCE74C40-9690-45D2-A537-7E87DB0E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con utenti e accettazione del tool ancora aperte.</a:t>
            </a:r>
          </a:p>
        </p:txBody>
      </p:sp>
      <p:sp>
        <p:nvSpPr>
          <p:cNvPr id="9" name="Non confondere test automatici con prove con persone">
            <a:extLst xmlns:a="http://schemas.openxmlformats.org/drawingml/2006/main">
              <a:ext uri="{FF2B5EF4-FFF2-40B4-BE49-F238E27FC236}">
                <a16:creationId xmlns:a16="http://schemas.microsoft.com/office/drawing/2014/main" id="{C695BF10-B096-45BC-A5B2-E89A0DF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Non confondere test automatici con prove con persone</a:t>
            </a:r>
          </a:p>
        </p:txBody>
      </p:sp>
    </p:spTree>
    <p:extLst>
      <p:ext uri="{BB962C8B-B14F-4D97-AF65-F5344CB8AC3E}">
        <p14:creationId xmlns:p14="http://schemas.microsoft.com/office/powerpoint/2010/main" val="829605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 breve coordinata con il frontend">
            <a:extLst xmlns:a="http://schemas.openxmlformats.org/drawingml/2006/main">
              <a:ext uri="{FF2B5EF4-FFF2-40B4-BE49-F238E27FC236}">
                <a16:creationId xmlns:a16="http://schemas.microsoft.com/office/drawing/2014/main" id="{79ECF15F-8913-4D2C-A549-FAF53C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Demo breve coordinata con il frontend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B7915754-F248-4825-86C1-6C568A2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ADONLY consulta, filtra ed esporta">
            <a:extLst xmlns:a="http://schemas.openxmlformats.org/drawingml/2006/main">
              <a:ext uri="{FF2B5EF4-FFF2-40B4-BE49-F238E27FC236}">
                <a16:creationId xmlns:a16="http://schemas.microsoft.com/office/drawing/2014/main" id="{CD238600-EA38-450E-9791-3AC891F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READONLY consulta, filtra ed esporta</a:t>
            </a:r>
          </a:p>
        </p:txBody>
      </p:sp>
      <p:sp>
        <p:nvSpPr>
          <p:cNvPr id="4" name="L’assegnatario risolve una issue predisposta">
            <a:extLst xmlns:a="http://schemas.openxmlformats.org/drawingml/2006/main">
              <a:ext uri="{FF2B5EF4-FFF2-40B4-BE49-F238E27FC236}">
                <a16:creationId xmlns:a16="http://schemas.microsoft.com/office/drawing/2014/main" id="{123BDA56-AD22-4B45-816C-2717C99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L’assegnatario risolve una issue predisposta</a:t>
            </a:r>
          </a:p>
        </p:txBody>
      </p:sp>
      <p:sp>
        <p:nvSpPr>
          <p:cNvPr id="5" name="Il segnalatore ritrova e legge la notifica">
            <a:extLst xmlns:a="http://schemas.openxmlformats.org/drawingml/2006/main">
              <a:ext uri="{FF2B5EF4-FFF2-40B4-BE49-F238E27FC236}">
                <a16:creationId xmlns:a16="http://schemas.microsoft.com/office/drawing/2014/main" id="{C2078F9E-0AE8-4771-94FB-D4EEE65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segnalatore ritrova e legge la notifica</a:t>
            </a:r>
          </a:p>
        </p:txBody>
      </p:sp>
      <p:sp>
        <p:nvSpPr>
          <p:cNvPr id="6" name="Passaggio al collega e prova congiunta ancora da confermare">
            <a:extLst xmlns:a="http://schemas.openxmlformats.org/drawingml/2006/main">
              <a:ext uri="{FF2B5EF4-FFF2-40B4-BE49-F238E27FC236}">
                <a16:creationId xmlns:a16="http://schemas.microsoft.com/office/drawing/2014/main" id="{6150ED24-0B72-42B3-926A-57D08B0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Passaggio al collega e prova congiunta ancora da confermare</a:t>
            </a:r>
          </a:p>
        </p:txBody>
      </p:sp>
    </p:spTree>
    <p:extLst>
      <p:ext uri="{BB962C8B-B14F-4D97-AF65-F5344CB8AC3E}">
        <p14:creationId xmlns:p14="http://schemas.microsoft.com/office/powerpoint/2010/main" val="1352005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2026-10-19T11:20:47.2690000Z</dcterms:created>
  <dcterms:modified xsi:type="dcterms:W3CDTF">2026-10-19T11:20:47.2690000Z</dcterms:modified>
</coreProperties>
</file>