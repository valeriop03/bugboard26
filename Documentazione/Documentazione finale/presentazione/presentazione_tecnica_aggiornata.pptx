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10cafa91784acf" /><Relationship Type="http://schemas.openxmlformats.org/officeDocument/2006/relationships/extended-properties" Target="/docProps/app.xml" Id="R4f52ff55fae944b1" /><Relationship Type="http://schemas.openxmlformats.org/officeDocument/2006/relationships/officeDocument" Target="/ppt/presentation.xml" Id="R5ae94c2a48dd49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a38c6f6fbf4bee"/>
  </p:sldMasterIdLst>
  <p:notesMasterIdLst>
    <p:notesMasterId xmlns:r="http://schemas.openxmlformats.org/officeDocument/2006/relationships" r:id="Rf88b4dd8bf074306"/>
  </p:notesMasterIdLst>
  <p:sldIdLst>
    <p:sldId xmlns:r="http://schemas.openxmlformats.org/officeDocument/2006/relationships" id="256" r:id="Rd6a69d8301e542bc"/>
    <p:sldId xmlns:r="http://schemas.openxmlformats.org/officeDocument/2006/relationships" id="257" r:id="Rf716a0e0e95c411c"/>
    <p:sldId xmlns:r="http://schemas.openxmlformats.org/officeDocument/2006/relationships" id="258" r:id="Radd4edc918d74000"/>
    <p:sldId xmlns:r="http://schemas.openxmlformats.org/officeDocument/2006/relationships" id="259" r:id="R2b99e0623bf4485d"/>
    <p:sldId xmlns:r="http://schemas.openxmlformats.org/officeDocument/2006/relationships" id="260" r:id="Rf27992b3cdd747c8"/>
    <p:sldId xmlns:r="http://schemas.openxmlformats.org/officeDocument/2006/relationships" id="261" r:id="R82d068b682e14ad2"/>
    <p:sldId xmlns:r="http://schemas.openxmlformats.org/officeDocument/2006/relationships" id="262" r:id="R095c08f8691e4973"/>
    <p:sldId xmlns:r="http://schemas.openxmlformats.org/officeDocument/2006/relationships" id="263" r:id="R7afb0fc0e8d14798"/>
    <p:sldId xmlns:r="http://schemas.openxmlformats.org/officeDocument/2006/relationships" id="264" r:id="R158710e8e3a646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be4e79c29c4346" /><Relationship Type="http://schemas.openxmlformats.org/officeDocument/2006/relationships/slideMaster" Target="/ppt/slideMasters/slideMaster1.xml" Id="R63a38c6f6fbf4bee" /><Relationship Type="http://schemas.openxmlformats.org/officeDocument/2006/relationships/notesMaster" Target="/ppt/notesMasters/notesMaster1.xml" Id="Rf88b4dd8bf074306" /><Relationship Type="http://schemas.openxmlformats.org/officeDocument/2006/relationships/presProps" Target="/ppt/presProps.xml" Id="R56dee6733dfd4c48" /><Relationship Type="http://schemas.openxmlformats.org/officeDocument/2006/relationships/tableStyles" Target="/ppt/tableStyles.xml" Id="Rb5ab93cc5f07494b" /><Relationship Type="http://schemas.openxmlformats.org/officeDocument/2006/relationships/slide" Target="/ppt/slides/slide1.xml" Id="Rd6a69d8301e542bc" /><Relationship Type="http://schemas.openxmlformats.org/officeDocument/2006/relationships/slide" Target="/ppt/slides/slide2.xml" Id="Rf716a0e0e95c411c" /><Relationship Type="http://schemas.openxmlformats.org/officeDocument/2006/relationships/slide" Target="/ppt/slides/slide3.xml" Id="Radd4edc918d74000" /><Relationship Type="http://schemas.openxmlformats.org/officeDocument/2006/relationships/slide" Target="/ppt/slides/slide4.xml" Id="R2b99e0623bf4485d" /><Relationship Type="http://schemas.openxmlformats.org/officeDocument/2006/relationships/slide" Target="/ppt/slides/slide5.xml" Id="Rf27992b3cdd747c8" /><Relationship Type="http://schemas.openxmlformats.org/officeDocument/2006/relationships/slide" Target="/ppt/slides/slide6.xml" Id="R82d068b682e14ad2" /><Relationship Type="http://schemas.openxmlformats.org/officeDocument/2006/relationships/slide" Target="/ppt/slides/slide7.xml" Id="R095c08f8691e4973" /><Relationship Type="http://schemas.openxmlformats.org/officeDocument/2006/relationships/slide" Target="/ppt/slides/slide8.xml" Id="R7afb0fc0e8d14798" /><Relationship Type="http://schemas.openxmlformats.org/officeDocument/2006/relationships/slide" Target="/ppt/slides/slide9.xml" Id="R158710e8e3a646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2ab38e305346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b167c2a6a24ad6" /><Relationship Type="http://schemas.openxmlformats.org/officeDocument/2006/relationships/notesMaster" Target="/ppt/notesMasters/notesMaster1.xml" Id="R8a9df326cfaf4c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5e51dfd40845f5" /><Relationship Type="http://schemas.openxmlformats.org/officeDocument/2006/relationships/notesMaster" Target="/ppt/notesMasters/notesMaster1.xml" Id="R209eb12e0c934d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8def58e04d4c32" /><Relationship Type="http://schemas.openxmlformats.org/officeDocument/2006/relationships/notesMaster" Target="/ppt/notesMasters/notesMaster1.xml" Id="R7d764a33d43e40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d192790e094fba" /><Relationship Type="http://schemas.openxmlformats.org/officeDocument/2006/relationships/notesMaster" Target="/ppt/notesMasters/notesMaster1.xml" Id="R18e475fee0a14b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377dd495de4889" /><Relationship Type="http://schemas.openxmlformats.org/officeDocument/2006/relationships/notesMaster" Target="/ppt/notesMasters/notesMaster1.xml" Id="R8bd2a19259814f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d1355044f24b1a" /><Relationship Type="http://schemas.openxmlformats.org/officeDocument/2006/relationships/notesMaster" Target="/ppt/notesMasters/notesMaster1.xml" Id="Re47a91920e2f4e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7c4a6dda524686" /><Relationship Type="http://schemas.openxmlformats.org/officeDocument/2006/relationships/notesMaster" Target="/ppt/notesMasters/notesMaster1.xml" Id="Rce519c8e911a4d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016492ea25406d" /><Relationship Type="http://schemas.openxmlformats.org/officeDocument/2006/relationships/notesMaster" Target="/ppt/notesMasters/notesMaster1.xml" Id="R96504b5717804d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00890478b749fa" /><Relationship Type="http://schemas.openxmlformats.org/officeDocument/2006/relationships/notesMaster" Target="/ppt/notesMasters/notesMaster1.xml" Id="R97067862c4c542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20 secondi.</a:t>
            </a:r>
          </a:p>
          <a:p xmlns:a="http://schemas.openxmlformats.org/drawingml/2006/main">
            <a:r>
              <a:t>Progetto SWE 2025/2026, modalità tradizionale. Perimetro assegnato: funzionalità 1, 2, 3, 6, 8, 11, 13, 14, 15, 16. Codice descritto nella relazione: b95d008. Le evidenze mantengono i riferimenti storici: audit backend su 6aa175a con correzioni locali, review frontend su 06ae1b0 con modifiche locali. Non sono nuove esecuzioni sul commit di copertina. Presentazione e demo provate secondo la conferma del gruppo, senza durata effettiva registrata. Fonte: documentazione_finale.tex e report di audit. Repository: https://github.com/Valeriop03/BugBoard26.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75 secondi.</a:t>
            </a:r>
          </a:p>
          <a:p xmlns:a="http://schemas.openxmlformats.org/drawingml/2006/main">
            <a:r>
              <a:t>Spiegare perché SPA e API sono eseguibili separatamente. Il browser chiama REST con JWT, il backend centralizza dati e regole. EF Core/Npgsql accede a PostgreSQL; i file immagine risiedono nello storage backend. Compose esegue API e database, Angular resta sul PC. Motivare indipendenza dalla UI e limite del setup HTTP locale. Fonti: backend/BugBoard26.Api/Program.cs, docker/docker-compose.yml, README.md, component_diagram.puml. Il disegno è una vista sintetica del modello esistente.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75 secondi.</a:t>
            </a:r>
          </a:p>
          <a:p xmlns:a="http://schemas.openxmlformats.org/drawingml/2006/main">
            <a:r>
              <a:t>Descrivere User, Issue e Notification. Issue ha segnalatore obbligatorio, assegnatario e originale duplicato opzionali. Unique email e FK configurate in EF. Distinguere validazione degli assegnatari dal vincolo SQL. ImagePath è un riferimento al file; non un BLOB. Le regole DeleteBehavior sono nel diagramma dati completo. La vista sintetica omette alcune associazioni: AssignedToId e UserId sono FK verso User, DuplicateOfIssueId è una FK verso Issue. Consultare il modello completo per tutte le molteplicità e cancellazioni. Fonti: Models/*.cs, Data/ApplicationDbContext.cs, Migrations/20260629102322_InitialCreate.cs, database_schema.puml.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60 secondi.</a:t>
            </a:r>
          </a:p>
          <a:p xmlns:a="http://schemas.openxmlformats.org/drawingml/2006/main">
            <a:r>
              <a:t>Motivare le astrazioni presenti, senza attribuire pattern assenti. PasswordHasher e JwtTokenService implementano interfacce sostituibili tramite DI. IssueDomainService è una classe concreta con regole pure. DTO separano HTTP ed entità, DbContext è ricevuto direttamente dai controller. Le entità non sono un dominio ricco: orchestrazione e salvataggi sono nei controller. Limite: dipendenza da EF da verificare con test HTTP/PostgreSQL. Fonti: Program.cs, Services/IPasswordHasher.cs, IJwtTokenService.cs, IssueDomainService.cs, Controllers, class_diagram.puml.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75 secondi.</a:t>
            </a:r>
          </a:p>
          <a:p xmlns:a="http://schemas.openxmlformats.org/drawingml/2006/main">
            <a:r>
              <a:t>La UI nasconde comandi ma il server resta il punto di controllo. Distinguere creazione, cambio stato, archivio/duplicati e gestione utenti. CanChangeIssueStatus verifica account attivo e assegnazione. Non attribuire un lookup account attivo a ogni endpoint: Archive e MarkAsDuplicate usano il ruolo JWT. RF-17 e una decisione del gruppo, non del docente: READONLY consulta le proprie notifiche ma non le segna lette. Verificati GET 200, PATCH read 403 senza scritture e assenza del comando UI. Il menu Utenti e ora visibile solo ad ADMIN, con tre test dedicati. Fonti: controller, IssueDomainService, auth.guard.ts, app.component.spec.ts e report di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60 secondi.</a:t>
            </a:r>
          </a:p>
          <a:p xmlns:a="http://schemas.openxmlformats.org/drawingml/2006/main">
            <a:r>
              <a:t>Seguire la sequenza cambio stato esistente. Ingresso in Resolved aggiorna UpdatedAt e ResolvedAt e aggiunge Notification per CreatedById, non per AssignedToId. Una sola SaveChangesAsync persiste le modifiche. Stesso stato valido su issue non duplicata non scrive date o notifiche. Uscire da Resolved azzera ResolvedAt, senza cancellare notifiche. Duplicate è rifiutato nel percorso status con 400, una issue già duplicata dà 409. Non introdurre una matrice generale di transizioni assente nel codice. Fonti: IssuesController.UpdateStatus, sequence_cambio_stato.puml, IssueStatusIntegrationTests.cs.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80 secondi.</a:t>
            </a:r>
          </a:p>
          <a:p xmlns:a="http://schemas.openxmlformats.org/drawingml/2006/main">
            <a:r>
              <a:t>Tre metodi non banali a due parametri testati in xUnit. SearchIssues: titolo, descrizione e nessuna corrispondenza, con assert sul conteggio. CanChangeIssueStatus: ruoli, attivazione e assegnazione. SuggestAssignee: carichi differenti e assenza candidati. Limiti unitari su null/trim e parità descritti nella relazione. Test HTTP con PostgreSQL dedicato per query, permessi e persistenza. Suite backend 166/166: 11 dominio e 155 integrazione. Tutti i 14 casi del test plan hanno evidenze, inclusi riapertura/seconda risoluzione e account disattivato. Frontend 40/40 dopo regressioni CSV e controlli per ruolo. Non sommare casi xUnit, Jasmine e checkpoint browser. Fonti: strategie_dominio.tex, esiti_test_plan.csv, TRX, verifica-frontend/review-20261019/frontend-test.txt.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60 secondi.</a:t>
            </a:r>
          </a:p>
          <a:p xmlns:a="http://schemas.openxmlformats.org/drawingml/2006/main">
            <a:r>
              <a:t>SonarQube: Quality Gate OK, coverage complessiva 93,7%, linee 95,7%, rami 88,2%, zero bug e vulnerabilità segnalati, quattro code smell visibili. Non è una certificazione di assenza di difetti. Persistenza verificata dopo riavvio e ricreazione backend con volumi conservati. Review sistematica assistita completata: 28 controlli browser, tastiera, recupero upload e correzione di quattro campioni di contrasto insufficienti. Sessioni del 19 ottobre riferite dal moderatore: tre persone conosciute, tutte USER su PC condiviso. P01/P03 creazione U2, P02 notifica U4. Completamento autonomo dichiarato dopo spiegazione iniziale. Q1-Q5, scala 1-5: P01 5/4/4/4/5; P02 4/4/5/4/4; P03 4/3/4/4/3. Nessuna risposta aperta o tempo rilevato. I due voti 3 non permettono di attribuire cause. Campione di convenienza ridotto, due attività, solo USER. Non è SUS né validazione statistica. Fonti: verifica-backend/audit-20261019.md, verifica-frontend/review-20261019/report.md, evidenze/questionario.csv, evidenze/sessioni_utenti.csv, documentazione_finale.tex.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35 secondi.</a:t>
            </a:r>
          </a:p>
          <a:p xmlns:a="http://schemas.openxmlformats.org/drawingml/2006/main">
            <a:r>
              <a:t>La dimostrazione segue la presentazione tecnica. Il gruppo conferma di aver già provato presentazione e demo, senza comunicare una durata misurata: i 540 secondi sono soltanto il budget delle slide. Usare gli account dimostrativi distinti S, A e READONLY e la issue assegnata predisposta per la demo. Durante la lettura READONLY mostrare i filtri e i comandi consentiti. Per la risoluzione spiegare il controllo del ruolo e dell’assegnazione nel backend. Il segnalatore ricarica le notifiche e vede la nuova notifica, senza presumere aggiornamenti realtime. Fonti: documentazione_finale.tex, consegna.md, traccia §10.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97974f73e40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3d48ae27d44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fdf90784744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66563084f40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dfa202ab74e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2d65b27de45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9D18DC-A5AB-4B25-81B5-100D2518F8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F5EBBCF-AAD2-4604-809D-BED26CF555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6605B23-CCE0-476C-BC17-4E1D65714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C262DE-6B66-45CE-A7D7-55741EAD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811381-69F1-4B40-81B3-7D7E224169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79EE8B-4B8C-4977-A5B3-3B4DAECE3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2AC4F0-07D8-48FB-B36E-48F454198F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4D3CE20-6412-4E3C-AB96-0833DCD36E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75C8A3-F5B2-4916-9408-D7BD537AF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AF8AC4-7317-4975-96A0-72DA4101AB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7c11d46f02482c" /><Relationship Type="http://schemas.openxmlformats.org/officeDocument/2006/relationships/slideLayout" Target="/ppt/slideLayouts/slideLayout1.xml" Id="Rf3f25cef08484c66" /><Relationship Type="http://schemas.openxmlformats.org/officeDocument/2006/relationships/slideLayout" Target="/ppt/slideLayouts/slideLayout2.xml" Id="R58aa061586e542b5" /><Relationship Type="http://schemas.openxmlformats.org/officeDocument/2006/relationships/slideLayout" Target="/ppt/slideLayouts/slideLayout3.xml" Id="R85beabb2178b4fd1" /><Relationship Type="http://schemas.openxmlformats.org/officeDocument/2006/relationships/slideLayout" Target="/ppt/slideLayouts/slideLayout4.xml" Id="R221096f34a3b4e0f" /><Relationship Type="http://schemas.openxmlformats.org/officeDocument/2006/relationships/slideLayout" Target="/ppt/slideLayouts/slideLayout5.xml" Id="R3d78419c5ff44193" /><Relationship Type="http://schemas.openxmlformats.org/officeDocument/2006/relationships/slideLayout" Target="/ppt/slideLayouts/slideLayout6.xml" Id="R4b8f88cbbe0743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f25cef08484c66"/>
    <p:sldLayoutId xmlns:r="http://schemas.openxmlformats.org/officeDocument/2006/relationships" id="2147483650" r:id="R58aa061586e542b5"/>
    <p:sldLayoutId xmlns:r="http://schemas.openxmlformats.org/officeDocument/2006/relationships" id="2147483651" r:id="R85beabb2178b4fd1"/>
    <p:sldLayoutId xmlns:r="http://schemas.openxmlformats.org/officeDocument/2006/relationships" id="2147483652" r:id="R221096f34a3b4e0f"/>
    <p:sldLayoutId xmlns:r="http://schemas.openxmlformats.org/officeDocument/2006/relationships" id="2147483653" r:id="R3d78419c5ff44193"/>
    <p:sldLayoutId xmlns:r="http://schemas.openxmlformats.org/officeDocument/2006/relationships" id="2147483654" r:id="R4b8f88cbbe0743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8fcd8ac9064224" /><Relationship Type="http://schemas.openxmlformats.org/officeDocument/2006/relationships/notesSlide" Target="/ppt/notesSlides/notesSlide1.xml" Id="R522eaff7f3084f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234221284443d0" /><Relationship Type="http://schemas.openxmlformats.org/officeDocument/2006/relationships/image" Target="/ppt/media/image.png" Id="R71db0b78dda34f8f" /><Relationship Type="http://schemas.openxmlformats.org/officeDocument/2006/relationships/notesSlide" Target="/ppt/notesSlides/notesSlide2.xml" Id="Re32a34a9e38e43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75335e79fa42a5" /><Relationship Type="http://schemas.openxmlformats.org/officeDocument/2006/relationships/image" Target="/ppt/media/image2.png" Id="R7499e56e3efe43c0" /><Relationship Type="http://schemas.openxmlformats.org/officeDocument/2006/relationships/notesSlide" Target="/ppt/notesSlides/notesSlide3.xml" Id="R5cb98b0b23f44d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88e28944e144f1" /><Relationship Type="http://schemas.openxmlformats.org/officeDocument/2006/relationships/notesSlide" Target="/ppt/notesSlides/notesSlide4.xml" Id="Rfa967f00e3ca4e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2d16153494a95" /><Relationship Type="http://schemas.openxmlformats.org/officeDocument/2006/relationships/notesSlide" Target="/ppt/notesSlides/notesSlide5.xml" Id="R620bd17c809d45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ae34be0e424f8c" /><Relationship Type="http://schemas.openxmlformats.org/officeDocument/2006/relationships/notesSlide" Target="/ppt/notesSlides/notesSlide6.xml" Id="R4aa6914e34a640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35cf5774f14de7" /><Relationship Type="http://schemas.openxmlformats.org/officeDocument/2006/relationships/notesSlide" Target="/ppt/notesSlides/notesSlide7.xml" Id="Rd4fe288bec5444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59e4c423b94ab6" /><Relationship Type="http://schemas.openxmlformats.org/officeDocument/2006/relationships/notesSlide" Target="/ppt/notesSlides/notesSlide8.xml" Id="R21a66db5dd084a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d365a524f940ff" /><Relationship Type="http://schemas.openxmlformats.org/officeDocument/2006/relationships/notesSlide" Target="/ppt/notesSlides/notesSlide9.xml" Id="R06542c23d8be4f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ugBoard26">
            <a:extLst xmlns:a="http://schemas.openxmlformats.org/drawingml/2006/main">
              <a:ext uri="{FF2B5EF4-FFF2-40B4-BE49-F238E27FC236}">
                <a16:creationId xmlns:a16="http://schemas.microsoft.com/office/drawing/2014/main" id="{A2604D94-B890-4C93-92CA-637196EF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BugBoard26</a:t>
            </a:r>
          </a:p>
        </p:txBody>
      </p:sp>
      <p:sp>
        <p:nvSpPr>
          <p:cNvPr id="2" name="1">
            <a:extLst xmlns:a="http://schemas.openxmlformats.org/drawingml/2006/main">
              <a:ext uri="{FF2B5EF4-FFF2-40B4-BE49-F238E27FC236}">
                <a16:creationId xmlns:a16="http://schemas.microsoft.com/office/drawing/2014/main" id="{2D16BBE6-A52F-4B91-9042-465D821C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Architettura, modello e verifica">
            <a:extLst xmlns:a="http://schemas.openxmlformats.org/drawingml/2006/main">
              <a:ext uri="{FF2B5EF4-FFF2-40B4-BE49-F238E27FC236}">
                <a16:creationId xmlns:a16="http://schemas.microsoft.com/office/drawing/2014/main" id="{4707FFB2-82D7-4D96-97A7-0DCE6CE6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Architettura, modello e verifica</a:t>
            </a:r>
          </a:p>
        </p:txBody>
      </p:sp>
      <p:sp>
        <p:nvSpPr>
          <p:cNvPr id="4" name="Progetto di Ingegneria del Software 2025/2026">
            <a:extLst xmlns:a="http://schemas.openxmlformats.org/drawingml/2006/main">
              <a:ext uri="{FF2B5EF4-FFF2-40B4-BE49-F238E27FC236}">
                <a16:creationId xmlns:a16="http://schemas.microsoft.com/office/drawing/2014/main" id="{BEC10554-1973-44BE-AC97-278D1F8D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Progetto di Ingegneria del Software 2025/2026</a:t>
            </a:r>
          </a:p>
        </p:txBody>
      </p:sp>
      <p:sp>
        <p:nvSpPr>
          <p:cNvPr id="5" name="Verifica tecnica e documentale del 19 ottobre 2026">
            <a:extLst xmlns:a="http://schemas.openxmlformats.org/drawingml/2006/main">
              <a:ext uri="{FF2B5EF4-FFF2-40B4-BE49-F238E27FC236}">
                <a16:creationId xmlns:a16="http://schemas.microsoft.com/office/drawing/2014/main" id="{D5B81661-255E-4CEC-872F-923024C6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Verifica tecnica e documentale del 19 ottobre 2026</a:t>
            </a:r>
          </a:p>
        </p:txBody>
      </p:sp>
      <p:sp>
        <p:nvSpPr>
          <p:cNvPr id="6" name="Risultati reali e limiti dichiarati">
            <a:extLst xmlns:a="http://schemas.openxmlformats.org/drawingml/2006/main">
              <a:ext uri="{FF2B5EF4-FFF2-40B4-BE49-F238E27FC236}">
                <a16:creationId xmlns:a16="http://schemas.microsoft.com/office/drawing/2014/main" id="{BC733AD6-14C1-439D-AC85-1CE87CD8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Valerio Porcile, Emanuel Giuseppe Lupoli, Emanuele Martucci</a:t>
            </a:r>
          </a:p>
        </p:txBody>
      </p:sp>
    </p:spTree>
    <p:extLst>
      <p:ext uri="{BB962C8B-B14F-4D97-AF65-F5344CB8AC3E}">
        <p14:creationId xmlns:p14="http://schemas.microsoft.com/office/powerpoint/2010/main" val="21154703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rchitettura e separazione dei componenti">
            <a:extLst xmlns:a="http://schemas.openxmlformats.org/drawingml/2006/main">
              <a:ext uri="{FF2B5EF4-FFF2-40B4-BE49-F238E27FC236}">
                <a16:creationId xmlns:a16="http://schemas.microsoft.com/office/drawing/2014/main" id="{29DFE250-6EB6-4AC9-9484-7A9B92C5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Architettura e separazione dei componenti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44184C45-E87A-420E-884E-38436C86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0D59C-466C-40CE-9ECC-148128BFD1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b0b78dda34f8f"/>
          <a:stretch xmlns:a="http://schemas.openxmlformats.org/drawingml/2006/main"/>
        </p:blipFill>
        <p:spPr>
          <a:xfrm xmlns:a="http://schemas.openxmlformats.org/drawingml/2006/main">
            <a:off x="609600" y="2075221"/>
            <a:ext cx="10972800" cy="2212258"/>
          </a:xfrm>
          <a:prstGeom xmlns:a="http://schemas.openxmlformats.org/drawingml/2006/main" prst="rect">
            <a:avLst/>
          </a:prstGeom>
        </p:spPr>
      </p:pic>
      <p:sp>
        <p:nvSpPr>
          <p:cNvPr id="4" name="Backend autonomo. Stato persistente centralizzato.">
            <a:extLst xmlns:a="http://schemas.openxmlformats.org/drawingml/2006/main">
              <a:ext uri="{FF2B5EF4-FFF2-40B4-BE49-F238E27FC236}">
                <a16:creationId xmlns:a16="http://schemas.microsoft.com/office/drawing/2014/main" id="{4FB5F4FB-5FB9-413A-9EF2-A469568E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Backend autonomo. Stato persistente centralizzato.</a:t>
            </a:r>
          </a:p>
        </p:txBody>
      </p:sp>
      <p:sp>
        <p:nvSpPr>
          <p:cNvPr id="5" name="Angular sul PC, API e PostgreSQL separati in Compose">
            <a:extLst xmlns:a="http://schemas.openxmlformats.org/drawingml/2006/main">
              <a:ext uri="{FF2B5EF4-FFF2-40B4-BE49-F238E27FC236}">
                <a16:creationId xmlns:a16="http://schemas.microsoft.com/office/drawing/2014/main" id="{887E51F5-F3FD-44A1-BDAC-06C70DC2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Angular sul PC, API e PostgreSQL separati in Compose</a:t>
            </a:r>
          </a:p>
        </p:txBody>
      </p:sp>
    </p:spTree>
    <p:extLst>
      <p:ext uri="{BB962C8B-B14F-4D97-AF65-F5344CB8AC3E}">
        <p14:creationId xmlns:p14="http://schemas.microsoft.com/office/powerpoint/2010/main" val="448556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odello dati e vincoli">
            <a:extLst xmlns:a="http://schemas.openxmlformats.org/drawingml/2006/main">
              <a:ext uri="{FF2B5EF4-FFF2-40B4-BE49-F238E27FC236}">
                <a16:creationId xmlns:a16="http://schemas.microsoft.com/office/drawing/2014/main" id="{55EB4D13-4FE7-427B-AB76-624D3B14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Modello dati e vincoli</a:t>
            </a:r>
          </a:p>
        </p:txBody>
      </p:sp>
      <p:sp>
        <p:nvSpPr>
          <p:cNvPr id="2" name="3">
            <a:extLst xmlns:a="http://schemas.openxmlformats.org/drawingml/2006/main">
              <a:ext uri="{FF2B5EF4-FFF2-40B4-BE49-F238E27FC236}">
                <a16:creationId xmlns:a16="http://schemas.microsoft.com/office/drawing/2014/main" id="{E537A8E7-8BA8-4BA4-96ED-9065FB73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615B8-AEEA-4334-8683-F5AFFDCCD1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9e56e3efe43c0"/>
          <a:stretch xmlns:a="http://schemas.openxmlformats.org/drawingml/2006/main"/>
        </p:blipFill>
        <p:spPr>
          <a:xfrm xmlns:a="http://schemas.openxmlformats.org/drawingml/2006/main">
            <a:off x="609600" y="1851471"/>
            <a:ext cx="10972800" cy="2697858"/>
          </a:xfrm>
          <a:prstGeom xmlns:a="http://schemas.openxmlformats.org/drawingml/2006/main" prst="rect">
            <a:avLst/>
          </a:prstGeom>
        </p:spPr>
      </p:pic>
      <p:sp>
        <p:nvSpPr>
          <p:cNvPr id="4" name="Email univoca e chiavi esterne nel mapping EF">
            <a:extLst xmlns:a="http://schemas.openxmlformats.org/drawingml/2006/main">
              <a:ext uri="{FF2B5EF4-FFF2-40B4-BE49-F238E27FC236}">
                <a16:creationId xmlns:a16="http://schemas.microsoft.com/office/drawing/2014/main" id="{07EB2A90-C0D8-49F0-A8EF-DFBFF768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Email univoca e chiavi esterne nel mapping EF</a:t>
            </a:r>
          </a:p>
        </p:txBody>
      </p:sp>
      <p:sp>
        <p:nvSpPr>
          <p:cNvPr id="5" name="Vista sintetica. Tutte le relazioni e i vincoli nel documento.">
            <a:extLst xmlns:a="http://schemas.openxmlformats.org/drawingml/2006/main">
              <a:ext uri="{FF2B5EF4-FFF2-40B4-BE49-F238E27FC236}">
                <a16:creationId xmlns:a16="http://schemas.microsoft.com/office/drawing/2014/main" id="{1A4178BB-7E40-45E2-8DD7-8032C5B8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Vista sintetica. Tutte le relazioni e i vincoli nel documento.</a:t>
            </a:r>
          </a:p>
        </p:txBody>
      </p:sp>
    </p:spTree>
    <p:extLst>
      <p:ext uri="{BB962C8B-B14F-4D97-AF65-F5344CB8AC3E}">
        <p14:creationId xmlns:p14="http://schemas.microsoft.com/office/powerpoint/2010/main" val="1116870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strazioni object-oriented e dipendenze">
            <a:extLst xmlns:a="http://schemas.openxmlformats.org/drawingml/2006/main">
              <a:ext uri="{FF2B5EF4-FFF2-40B4-BE49-F238E27FC236}">
                <a16:creationId xmlns:a16="http://schemas.microsoft.com/office/drawing/2014/main" id="{D7FD37C7-4BBF-48EB-A95C-046AA2B0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Astrazioni object-oriented e dipendenze</a:t>
            </a:r>
          </a:p>
        </p:txBody>
      </p:sp>
      <p:sp>
        <p:nvSpPr>
          <p:cNvPr id="2" name="4">
            <a:extLst xmlns:a="http://schemas.openxmlformats.org/drawingml/2006/main">
              <a:ext uri="{FF2B5EF4-FFF2-40B4-BE49-F238E27FC236}">
                <a16:creationId xmlns:a16="http://schemas.microsoft.com/office/drawing/2014/main" id="{9E3F20EC-F6AF-4F37-AF4A-E7525C72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EAEEB-DE28-4A32-9BD1-5E821C0CC14A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181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953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Scelta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Responsabilità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Contratti e DI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Hash password e generazione JWT sostituibili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Regole pure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IssueDomainService senza accesso al database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DTO ed entità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Contratto HTTP distinto dalla persistenza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I controller orchestrano e usano direttamente DbContext">
            <a:extLst xmlns:a="http://schemas.openxmlformats.org/drawingml/2006/main">
              <a:ext uri="{FF2B5EF4-FFF2-40B4-BE49-F238E27FC236}">
                <a16:creationId xmlns:a16="http://schemas.microsoft.com/office/drawing/2014/main" id="{9E788CB1-4C99-4482-B9B6-0747923D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I controller orchestrano e usano direttamente DbContext</a:t>
            </a:r>
          </a:p>
        </p:txBody>
      </p:sp>
      <p:sp>
        <p:nvSpPr>
          <p:cNvPr id="5" name="Il codice attuale non introduce repository applicativi">
            <a:extLst xmlns:a="http://schemas.openxmlformats.org/drawingml/2006/main">
              <a:ext uri="{FF2B5EF4-FFF2-40B4-BE49-F238E27FC236}">
                <a16:creationId xmlns:a16="http://schemas.microsoft.com/office/drawing/2014/main" id="{EE9148AE-3DD8-4C07-AB12-909FD4BC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Il codice attuale non introduce repository applicativi</a:t>
            </a:r>
          </a:p>
        </p:txBody>
      </p:sp>
    </p:spTree>
    <p:extLst>
      <p:ext uri="{BB962C8B-B14F-4D97-AF65-F5344CB8AC3E}">
        <p14:creationId xmlns:p14="http://schemas.microsoft.com/office/powerpoint/2010/main" val="1409264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ermessi e controlli sul backend">
            <a:extLst xmlns:a="http://schemas.openxmlformats.org/drawingml/2006/main">
              <a:ext uri="{FF2B5EF4-FFF2-40B4-BE49-F238E27FC236}">
                <a16:creationId xmlns:a16="http://schemas.microsoft.com/office/drawing/2014/main" id="{58BA3681-C2DC-46BD-A864-17C72609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Permessi e controlli sul backend</a:t>
            </a:r>
          </a:p>
        </p:txBody>
      </p:sp>
      <p:sp>
        <p:nvSpPr>
          <p:cNvPr id="2" name="5">
            <a:extLst xmlns:a="http://schemas.openxmlformats.org/drawingml/2006/main">
              <a:ext uri="{FF2B5EF4-FFF2-40B4-BE49-F238E27FC236}">
                <a16:creationId xmlns:a16="http://schemas.microsoft.com/office/drawing/2014/main" id="{22CD982B-E33A-4977-9E9B-0B5B1DA1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43367-2748-4E1A-BA22-D86471331E7F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857750"/>
                <a:gridCol w="1714500"/>
                <a:gridCol w="2686050"/>
                <a:gridCol w="1714500"/>
              </a:tblGrid>
              <a:tr h="581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Operazione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ADMIN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READONLY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Consultare ed esportare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Creare issue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Cambiare stato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Assegnatario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Archiviare / duplicato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Gestire utenti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F-17, decisione del gruppo: READONLY consulta le proprie notifiche">
            <a:extLst xmlns:a="http://schemas.openxmlformats.org/drawingml/2006/main">
              <a:ext uri="{FF2B5EF4-FFF2-40B4-BE49-F238E27FC236}">
                <a16:creationId xmlns:a16="http://schemas.microsoft.com/office/drawing/2014/main" id="{DD2EBCB9-3600-4F4A-95D6-7EE38972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RF-17, decisione del gruppo: READONLY consulta le proprie notifiche</a:t>
            </a:r>
          </a:p>
        </p:txBody>
      </p:sp>
      <p:sp>
        <p:nvSpPr>
          <p:cNvPr id="5" name="PATCH read: 403 senza scritture. Verificato anche nella UI.">
            <a:extLst xmlns:a="http://schemas.openxmlformats.org/drawingml/2006/main">
              <a:ext uri="{FF2B5EF4-FFF2-40B4-BE49-F238E27FC236}">
                <a16:creationId xmlns:a16="http://schemas.microsoft.com/office/drawing/2014/main" id="{2C92811B-8415-4D92-80CA-4601832B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PATCH read: 403 senza scritture. Verificato anche nella UI.</a:t>
            </a:r>
          </a:p>
        </p:txBody>
      </p:sp>
    </p:spTree>
    <p:extLst>
      <p:ext uri="{BB962C8B-B14F-4D97-AF65-F5344CB8AC3E}">
        <p14:creationId xmlns:p14="http://schemas.microsoft.com/office/powerpoint/2010/main" val="1505755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isoluzione e notifica: persistenza e ripetizione">
            <a:extLst xmlns:a="http://schemas.openxmlformats.org/drawingml/2006/main">
              <a:ext uri="{FF2B5EF4-FFF2-40B4-BE49-F238E27FC236}">
                <a16:creationId xmlns:a16="http://schemas.microsoft.com/office/drawing/2014/main" id="{D79D7882-5C5F-4D6B-80D3-B994B3BA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Risoluzione e notifica: persistenza e ripetizione</a:t>
            </a:r>
          </a:p>
        </p:txBody>
      </p:sp>
      <p:sp>
        <p:nvSpPr>
          <p:cNvPr id="2" name="6">
            <a:extLst xmlns:a="http://schemas.openxmlformats.org/drawingml/2006/main">
              <a:ext uri="{FF2B5EF4-FFF2-40B4-BE49-F238E27FC236}">
                <a16:creationId xmlns:a16="http://schemas.microsoft.com/office/drawing/2014/main" id="{7AC251BA-F985-4F7F-99F9-688622E8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1. Account attivo e permesso di modifica">
            <a:extLst xmlns:a="http://schemas.openxmlformats.org/drawingml/2006/main">
              <a:ext uri="{FF2B5EF4-FFF2-40B4-BE49-F238E27FC236}">
                <a16:creationId xmlns:a16="http://schemas.microsoft.com/office/drawing/2014/main" id="{66DF859E-C2F3-46AD-8A9F-33BFBDA8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1. Account attivo e permesso di modifica</a:t>
            </a:r>
          </a:p>
        </p:txBody>
      </p:sp>
      <p:sp>
        <p:nvSpPr>
          <p:cNvPr id="4" name="2. Stato e date UTC aggiornati nel controller">
            <a:extLst xmlns:a="http://schemas.openxmlformats.org/drawingml/2006/main">
              <a:ext uri="{FF2B5EF4-FFF2-40B4-BE49-F238E27FC236}">
                <a16:creationId xmlns:a16="http://schemas.microsoft.com/office/drawing/2014/main" id="{799E1FC3-7990-4AD2-988B-E3E66E4E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2. Stato e date UTC aggiornati nel controller</a:t>
            </a:r>
          </a:p>
        </p:txBody>
      </p:sp>
      <p:sp>
        <p:nvSpPr>
          <p:cNvPr id="5" name="3. Notifica non letta al segnalatore">
            <a:extLst xmlns:a="http://schemas.openxmlformats.org/drawingml/2006/main">
              <a:ext uri="{FF2B5EF4-FFF2-40B4-BE49-F238E27FC236}">
                <a16:creationId xmlns:a16="http://schemas.microsoft.com/office/drawing/2014/main" id="{38BBA67E-C15B-41CA-AB5B-4E00F956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3. Notifica non letta al segnalatore</a:t>
            </a:r>
          </a:p>
        </p:txBody>
      </p:sp>
      <p:sp>
        <p:nvSpPr>
          <p:cNvPr id="6" name="4. Un salvataggio EF per issue e notifica">
            <a:extLst xmlns:a="http://schemas.openxmlformats.org/drawingml/2006/main">
              <a:ext uri="{FF2B5EF4-FFF2-40B4-BE49-F238E27FC236}">
                <a16:creationId xmlns:a16="http://schemas.microsoft.com/office/drawing/2014/main" id="{29CA369B-FCC6-4EF8-8FCB-A4B93CA4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4. Un salvataggio EF per issue e notifica</a:t>
            </a:r>
          </a:p>
        </p:txBody>
      </p:sp>
      <p:sp>
        <p:nvSpPr>
          <p:cNvPr id="7" name="Stesso stato: date e notifiche restano invariate">
            <a:extLst xmlns:a="http://schemas.openxmlformats.org/drawingml/2006/main">
              <a:ext uri="{FF2B5EF4-FFF2-40B4-BE49-F238E27FC236}">
                <a16:creationId xmlns:a16="http://schemas.microsoft.com/office/drawing/2014/main" id="{3C500B69-DF41-4997-ABB3-513E13E9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Stesso stato: date e notifiche restano invariate</a:t>
            </a:r>
          </a:p>
        </p:txBody>
      </p:sp>
    </p:spTree>
    <p:extLst>
      <p:ext uri="{BB962C8B-B14F-4D97-AF65-F5344CB8AC3E}">
        <p14:creationId xmlns:p14="http://schemas.microsoft.com/office/powerpoint/2010/main" val="14366322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trategia di test e piano UC-02">
            <a:extLst xmlns:a="http://schemas.openxmlformats.org/drawingml/2006/main">
              <a:ext uri="{FF2B5EF4-FFF2-40B4-BE49-F238E27FC236}">
                <a16:creationId xmlns:a16="http://schemas.microsoft.com/office/drawing/2014/main" id="{5FD11EFB-0D94-4A2A-8722-7EBE8394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Strategia di test e piano UC-02</a:t>
            </a:r>
          </a:p>
        </p:txBody>
      </p:sp>
      <p:sp>
        <p:nvSpPr>
          <p:cNvPr id="2" name="7">
            <a:extLst xmlns:a="http://schemas.openxmlformats.org/drawingml/2006/main">
              <a:ext uri="{FF2B5EF4-FFF2-40B4-BE49-F238E27FC236}">
                <a16:creationId xmlns:a16="http://schemas.microsoft.com/office/drawing/2014/main" id="{38CFF5DB-B48B-436D-B2F4-10BA63D2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SearchIssues: titolo, descrizione, nessun risultato">
            <a:extLst xmlns:a="http://schemas.openxmlformats.org/drawingml/2006/main">
              <a:ext uri="{FF2B5EF4-FFF2-40B4-BE49-F238E27FC236}">
                <a16:creationId xmlns:a16="http://schemas.microsoft.com/office/drawing/2014/main" id="{EA9E6A27-F2F1-4DBD-84E9-D09FBD14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SearchIssues: titolo, descrizione, nessun risultato</a:t>
            </a:r>
          </a:p>
        </p:txBody>
      </p:sp>
      <p:sp>
        <p:nvSpPr>
          <p:cNvPr id="4" name="CanChangeIssueStatus: ruolo, attività e assegnazione">
            <a:extLst xmlns:a="http://schemas.openxmlformats.org/drawingml/2006/main">
              <a:ext uri="{FF2B5EF4-FFF2-40B4-BE49-F238E27FC236}">
                <a16:creationId xmlns:a16="http://schemas.microsoft.com/office/drawing/2014/main" id="{F6B46ECA-D0B5-4392-B50B-2196D687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CanChangeIssueStatus: ruolo, attività e assegnazione</a:t>
            </a:r>
          </a:p>
        </p:txBody>
      </p:sp>
      <p:sp>
        <p:nvSpPr>
          <p:cNvPr id="5" name="SuggestAssignee: carico e assenza di candidati">
            <a:extLst xmlns:a="http://schemas.openxmlformats.org/drawingml/2006/main">
              <a:ext uri="{FF2B5EF4-FFF2-40B4-BE49-F238E27FC236}">
                <a16:creationId xmlns:a16="http://schemas.microsoft.com/office/drawing/2014/main" id="{875F0E96-EF99-4125-9704-B58E0DE3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SuggestAssignee: carico e assenza di candidati</a:t>
            </a:r>
          </a:p>
        </p:txBody>
      </p:sp>
      <p:sp>
        <p:nvSpPr>
          <p:cNvPr id="6" name="TP-UC02: permessi, date, notifiche e ripetizione">
            <a:extLst xmlns:a="http://schemas.openxmlformats.org/drawingml/2006/main">
              <a:ext uri="{FF2B5EF4-FFF2-40B4-BE49-F238E27FC236}">
                <a16:creationId xmlns:a16="http://schemas.microsoft.com/office/drawing/2014/main" id="{04B05431-82F7-4D39-A6A5-0EE5B33A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TP-UC02: permessi, date, notifiche e ripetizione</a:t>
            </a:r>
          </a:p>
        </p:txBody>
      </p:sp>
      <p:sp>
        <p:nvSpPr>
          <p:cNvPr id="7" name="xUnit in memoria e test HTTP con PostgreSQL isolato">
            <a:extLst xmlns:a="http://schemas.openxmlformats.org/drawingml/2006/main">
              <a:ext uri="{FF2B5EF4-FFF2-40B4-BE49-F238E27FC236}">
                <a16:creationId xmlns:a16="http://schemas.microsoft.com/office/drawing/2014/main" id="{F5B0ABE3-0491-4AAD-82A8-CD1598E7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xUnit in memoria e test HTTP con PostgreSQL isolato</a:t>
            </a:r>
          </a:p>
        </p:txBody>
      </p:sp>
      <p:sp>
        <p:nvSpPr>
          <p:cNvPr id="8" name="166 test backend superati. Evidenze per tutti i 14 casi TP.">
            <a:extLst xmlns:a="http://schemas.openxmlformats.org/drawingml/2006/main">
              <a:ext uri="{FF2B5EF4-FFF2-40B4-BE49-F238E27FC236}">
                <a16:creationId xmlns:a16="http://schemas.microsoft.com/office/drawing/2014/main" id="{F46BB2B4-1A5F-43E8-9BBA-BA2DE511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166 test backend e 40 frontend superati. Piano UC-02: 14 casi.</a:t>
            </a:r>
          </a:p>
        </p:txBody>
      </p:sp>
    </p:spTree>
    <p:extLst>
      <p:ext uri="{BB962C8B-B14F-4D97-AF65-F5344CB8AC3E}">
        <p14:creationId xmlns:p14="http://schemas.microsoft.com/office/powerpoint/2010/main" val="467548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Qualità misurata e attività ancora aperte">
            <a:extLst xmlns:a="http://schemas.openxmlformats.org/drawingml/2006/main">
              <a:ext uri="{FF2B5EF4-FFF2-40B4-BE49-F238E27FC236}">
                <a16:creationId xmlns:a16="http://schemas.microsoft.com/office/drawing/2014/main" id="{71E455CE-B38F-48E6-908D-3E8DAA58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Qualità e valutazione dell’usabilità</a:t>
            </a:r>
          </a:p>
        </p:txBody>
      </p:sp>
      <p:sp>
        <p:nvSpPr>
          <p:cNvPr id="2" name="8">
            <a:extLst xmlns:a="http://schemas.openxmlformats.org/drawingml/2006/main">
              <a:ext uri="{FF2B5EF4-FFF2-40B4-BE49-F238E27FC236}">
                <a16:creationId xmlns:a16="http://schemas.microsoft.com/office/drawing/2014/main" id="{E1D3722D-2E52-4D86-A7C1-852D961E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Collaudo frontend">
            <a:extLst xmlns:a="http://schemas.openxmlformats.org/drawingml/2006/main">
              <a:ext uri="{FF2B5EF4-FFF2-40B4-BE49-F238E27FC236}">
                <a16:creationId xmlns:a16="http://schemas.microsoft.com/office/drawing/2014/main" id="{8F7AC73F-F4E2-468D-88E6-16B2BA32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Qualità backend</a:t>
            </a:r>
          </a:p>
        </p:txBody>
      </p:sp>
      <p:sp>
        <p:nvSpPr>
          <p:cNvPr id="4" name="36 test superati e percorsi UI/API reali, senza mock.">
            <a:extLst xmlns:a="http://schemas.openxmlformats.org/drawingml/2006/main">
              <a:ext uri="{FF2B5EF4-FFF2-40B4-BE49-F238E27FC236}">
                <a16:creationId xmlns:a16="http://schemas.microsoft.com/office/drawing/2014/main" id="{3F691355-975F-4E69-A447-D31BC214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Coverage 93,7%, gate OK. Segnalazioni: 0 bug, 0 vulnerabilità, 4 smell.</a:t>
            </a:r>
          </a:p>
        </p:txBody>
      </p:sp>
      <p:sp>
        <p:nvSpPr>
          <p:cNvPr id="5" name="Qualità backend">
            <a:extLst xmlns:a="http://schemas.openxmlformats.org/drawingml/2006/main">
              <a:ext uri="{FF2B5EF4-FFF2-40B4-BE49-F238E27FC236}">
                <a16:creationId xmlns:a16="http://schemas.microsoft.com/office/drawing/2014/main" id="{0EC518D2-8213-4C7C-A0EB-4BEC3E1C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Review sistematica</a:t>
            </a:r>
          </a:p>
        </p:txBody>
      </p:sp>
      <p:sp>
        <p:nvSpPr>
          <p:cNvPr id="6" name="Coverage 93,7%. Gate OK. Zero bug e vulnerabilità segnalati.">
            <a:extLst xmlns:a="http://schemas.openxmlformats.org/drawingml/2006/main">
              <a:ext uri="{FF2B5EF4-FFF2-40B4-BE49-F238E27FC236}">
                <a16:creationId xmlns:a16="http://schemas.microsoft.com/office/drawing/2014/main" id="{6D7C611D-81C3-46BE-BE3E-3E2BFF5E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28 controlli browser. Correzioni di contrasto e verifica da tastiera.</a:t>
            </a:r>
          </a:p>
        </p:txBody>
      </p:sp>
      <p:sp>
        <p:nvSpPr>
          <p:cNvPr id="7" name="Usabilità e conformità CASE">
            <a:extLst xmlns:a="http://schemas.openxmlformats.org/drawingml/2006/main">
              <a:ext uri="{FF2B5EF4-FFF2-40B4-BE49-F238E27FC236}">
                <a16:creationId xmlns:a16="http://schemas.microsoft.com/office/drawing/2014/main" id="{646EBB9D-C6F3-4410-9F9B-5AAF1C7F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Tre sessioni con partecipanti</a:t>
            </a:r>
          </a:p>
        </p:txBody>
      </p:sp>
      <p:sp>
        <p:nvSpPr>
          <p:cNvPr id="8" name="Prove con utenti e accettazione del tool ancora aperte.">
            <a:extLst xmlns:a="http://schemas.openxmlformats.org/drawingml/2006/main">
              <a:ext uri="{FF2B5EF4-FFF2-40B4-BE49-F238E27FC236}">
                <a16:creationId xmlns:a16="http://schemas.microsoft.com/office/drawing/2014/main" id="{CCE74C40-9690-45D2-A537-7E87DB0E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Due prove di creazione, una di lettura notifica. 15 risposte su scala 1-5.</a:t>
            </a:r>
          </a:p>
        </p:txBody>
      </p:sp>
      <p:sp>
        <p:nvSpPr>
          <p:cNvPr id="9" name="Non confondere test automatici con prove con persone">
            <a:extLst xmlns:a="http://schemas.openxmlformats.org/drawingml/2006/main">
              <a:ext uri="{FF2B5EF4-FFF2-40B4-BE49-F238E27FC236}">
                <a16:creationId xmlns:a16="http://schemas.microsoft.com/office/drawing/2014/main" id="{C695BF10-B096-45BC-A5B2-E89A0DF2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Campione ridotto, solo USER. Nessuna generalizzazione statistica.</a:t>
            </a:r>
          </a:p>
        </p:txBody>
      </p:sp>
    </p:spTree>
    <p:extLst>
      <p:ext uri="{BB962C8B-B14F-4D97-AF65-F5344CB8AC3E}">
        <p14:creationId xmlns:p14="http://schemas.microsoft.com/office/powerpoint/2010/main" val="8296056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emo breve coordinata con il frontend">
            <a:extLst xmlns:a="http://schemas.openxmlformats.org/drawingml/2006/main">
              <a:ext uri="{FF2B5EF4-FFF2-40B4-BE49-F238E27FC236}">
                <a16:creationId xmlns:a16="http://schemas.microsoft.com/office/drawing/2014/main" id="{79ECF15F-8913-4D2C-A549-FAF53CE7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Dimostrazione del flusso di risoluzione</a:t>
            </a:r>
          </a:p>
        </p:txBody>
      </p:sp>
      <p:sp>
        <p:nvSpPr>
          <p:cNvPr id="2" name="9">
            <a:extLst xmlns:a="http://schemas.openxmlformats.org/drawingml/2006/main">
              <a:ext uri="{FF2B5EF4-FFF2-40B4-BE49-F238E27FC236}">
                <a16:creationId xmlns:a16="http://schemas.microsoft.com/office/drawing/2014/main" id="{B7915754-F248-4825-86C1-6C568A2F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READONLY consulta, filtra ed esporta">
            <a:extLst xmlns:a="http://schemas.openxmlformats.org/drawingml/2006/main">
              <a:ext uri="{FF2B5EF4-FFF2-40B4-BE49-F238E27FC236}">
                <a16:creationId xmlns:a16="http://schemas.microsoft.com/office/drawing/2014/main" id="{CD238600-EA38-450E-9791-3AC891FE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READONLY consulta, filtra ed esporta</a:t>
            </a:r>
          </a:p>
        </p:txBody>
      </p:sp>
      <p:sp>
        <p:nvSpPr>
          <p:cNvPr id="4" name="L’assegnatario risolve una issue predisposta">
            <a:extLst xmlns:a="http://schemas.openxmlformats.org/drawingml/2006/main">
              <a:ext uri="{FF2B5EF4-FFF2-40B4-BE49-F238E27FC236}">
                <a16:creationId xmlns:a16="http://schemas.microsoft.com/office/drawing/2014/main" id="{123BDA56-AD22-4B45-816C-2717C993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L’assegnatario risolve una issue predisposta</a:t>
            </a:r>
          </a:p>
        </p:txBody>
      </p:sp>
      <p:sp>
        <p:nvSpPr>
          <p:cNvPr id="5" name="Il segnalatore ritrova e legge la notifica">
            <a:extLst xmlns:a="http://schemas.openxmlformats.org/drawingml/2006/main">
              <a:ext uri="{FF2B5EF4-FFF2-40B4-BE49-F238E27FC236}">
                <a16:creationId xmlns:a16="http://schemas.microsoft.com/office/drawing/2014/main" id="{C2078F9E-0AE8-4771-94FB-D4EEE65E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Il segnalatore ritrova e legge la notifica</a:t>
            </a:r>
          </a:p>
        </p:txBody>
      </p:sp>
      <p:sp>
        <p:nvSpPr>
          <p:cNvPr id="6" name="Passaggio al collega e prova congiunta ancora da confermare">
            <a:extLst xmlns:a="http://schemas.openxmlformats.org/drawingml/2006/main">
              <a:ext uri="{FF2B5EF4-FFF2-40B4-BE49-F238E27FC236}">
                <a16:creationId xmlns:a16="http://schemas.microsoft.com/office/drawing/2014/main" id="{6150ED24-0B72-42B3-926A-57D08B0D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Il backend controlla i permessi e conserva stato e notifica</a:t>
            </a:r>
          </a:p>
        </p:txBody>
      </p:sp>
    </p:spTree>
    <p:extLst>
      <p:ext uri="{BB962C8B-B14F-4D97-AF65-F5344CB8AC3E}">
        <p14:creationId xmlns:p14="http://schemas.microsoft.com/office/powerpoint/2010/main" val="1352005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2026-10-19T17:45:40.9130000Z</dcterms:created>
  <dcterms:modified xsi:type="dcterms:W3CDTF">2026-10-19T17:45:40.9130000Z</dcterms:modified>
</coreProperties>
</file>